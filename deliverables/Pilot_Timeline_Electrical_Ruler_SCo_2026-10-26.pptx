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lot timeline" id="{bc305693-716b-a1ab-282e-7dbce1b68ab5}">
          <p14:sldIdLst>
            <p14:sldId id="256"/>
            <p14:sldId id="257"/>
            <p14:sldId id="25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Agreed split: WS1 Generic Electrical Engineering led by the India Team (Yusri to reach out to Sid for assistance and coordination); WS2 Renewables-specific Electrical Engineering (Solar, Energy Storage, Wind) led by Halem and team; WS3 Job Competency Profile / Job Family led by Nizam, running in parallel to keep the JCP aligned with the capability framework. WS1 and WS2 are the primary focus. The workstreams reconvene on Thursday 15 Oct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Windows are proposals, not agreed dates; they should be confirmed with the workstream leads at the 15 Oct update. WS1 and WS2 converge at the review and refine stage in mid-Jan, then the pilot group is assessed against the combined ruler. WS3 runs in parallel so the JCP/JF is aligned with the capability framework before the pilot assessment starts. Assumption: the PETRONAS ruler feeds WS1 (generic electrical); WS2 develops renewables-specific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are as agreed on 8 Oct: Ungku updates and circulates the deck; Yusri reaches out to Sid for WS1; workstreams reconvene on Thursday 15 Oct 2026. The SCo asks and risks carry over from the earlier version and now also cover workstream alignment. The earlier lifecycle plan had pilot report approval at an estimated 27 Oct, handover at 18 Nov and the One Gentari showcase on 2 Dec; these need to be reset against this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85800"/>
          </a:xfrm>
          <a:prstGeom prst="rect">
            <a:avLst/>
          </a:prstGeom>
          <a:noFill/>
          <a:ln/>
        </p:spPr>
        <p:txBody>
          <a:bodyPr wrap="square" rtlCol="0"/>
          <a:lstStyle>
            <a:lvl1pPr algn="l" indent="0" marL="0">
              <a:buNone/>
              <a:defRPr lang="en-US" sz="3000" b="1" dirty="0">
                <a:solidFill>
                  <a:schemeClr val="tx1"/>
                </a:solidFill>
                <a:latin typeface="Arial" pitchFamily="34" charset="0"/>
                <a:ea typeface="Arial" pitchFamily="34" charset="-122"/>
                <a:cs typeface="Arial" pitchFamily="34" charset="-120"/>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85800"/>
          </a:xfrm>
          <a:prstGeom prst="rect">
            <a:avLst/>
          </a:prstGeom>
          <a:noFill/>
          <a:ln/>
        </p:spPr>
        <p:txBody>
          <a:bodyPr wrap="square" lIns="0" tIns="0" rIns="0" bIns="0" rtlCol="0" anchor="ctr"/>
          <a:lstStyle/>
          <a:p>
            <a:pPr algn="l" indent="0" marL="0">
              <a:buNone/>
            </a:pPr>
            <a:r>
              <a:rPr lang="en-US" sz="3000" b="1" dirty="0">
                <a:solidFill>
                  <a:schemeClr val="tx1"/>
                </a:solidFill>
                <a:latin typeface="Arial" pitchFamily="34" charset="0"/>
                <a:ea typeface="Arial" pitchFamily="34" charset="-122"/>
                <a:cs typeface="Arial" pitchFamily="34" charset="-120"/>
              </a:rPr>
              <a:t>Pilot delivered through three workstreams</a:t>
            </a:r>
            <a:endParaRPr lang="en-US" sz="3000" dirty="0"/>
          </a:p>
        </p:txBody>
      </p:sp>
      <p:sp>
        <p:nvSpPr>
          <p:cNvPr id="3" name="Subtitle"/>
          <p:cNvSpPr txBox="1"/>
          <p:nvPr/>
        </p:nvSpPr>
        <p:spPr>
          <a:xfrm>
            <a:off x="548640" y="1024128"/>
            <a:ext cx="11091672" cy="320040"/>
          </a:xfrm>
          <a:prstGeom prst="rect">
            <a:avLst/>
          </a:prstGeom>
          <a:noFill/>
          <a:ln/>
        </p:spPr>
        <p:txBody>
          <a:bodyPr wrap="square" lIns="0" tIns="0" rIns="0" bIns="0" rtlCol="0" anchor="ctr"/>
          <a:lstStyle/>
          <a:p>
            <a:pPr indent="0" marL="0">
              <a:buNone/>
            </a:pPr>
            <a:r>
              <a:rPr lang="en-US" sz="1400" dirty="0">
                <a:solidFill>
                  <a:schemeClr val="tx2"/>
                </a:solidFill>
              </a:rPr>
              <a:t>Agreed in team discussion, 8 Oct 2026  |  Workstreams 1 and 2 are the primary focus; Workstream 3 progresses in parallel</a:t>
            </a:r>
            <a:endParaRPr lang="en-US" sz="1400" dirty="0"/>
          </a:p>
        </p:txBody>
      </p:sp>
      <p:sp>
        <p:nvSpPr>
          <p:cNvPr id="4" name="WS1 card"/>
          <p:cNvSpPr/>
          <p:nvPr/>
        </p:nvSpPr>
        <p:spPr>
          <a:xfrm>
            <a:off x="550012" y="1600200"/>
            <a:ext cx="3520440" cy="3520440"/>
          </a:xfrm>
          <a:prstGeom prst="roundRect">
            <a:avLst>
              <a:gd name="adj" fmla="val 3896"/>
            </a:avLst>
          </a:prstGeom>
          <a:solidFill>
            <a:schemeClr val="bg1"/>
          </a:solidFill>
          <a:ln w="25400">
            <a:solidFill>
              <a:schemeClr val="accent1"/>
            </a:solidFill>
            <a:prstDash val="solid"/>
          </a:ln>
        </p:spPr>
      </p:sp>
      <p:sp>
        <p:nvSpPr>
          <p:cNvPr id="5" name="WS1 tag"/>
          <p:cNvSpPr/>
          <p:nvPr/>
        </p:nvSpPr>
        <p:spPr>
          <a:xfrm>
            <a:off x="778612" y="1828800"/>
            <a:ext cx="1325880" cy="256032"/>
          </a:xfrm>
          <a:prstGeom prst="roundRect">
            <a:avLst>
              <a:gd name="adj" fmla="val 46429"/>
            </a:avLst>
          </a:prstGeom>
          <a:solidFill>
            <a:schemeClr val="accent1"/>
          </a:solidFill>
          <a:ln/>
        </p:spPr>
        <p:txBody>
          <a:bodyPr wrap="square" lIns="0" tIns="0" rIns="0" bIns="0" rtlCol="0" anchor="ctr"/>
          <a:lstStyle/>
          <a:p>
            <a:pPr algn="ctr" indent="0" marL="0">
              <a:buNone/>
            </a:pPr>
            <a:r>
              <a:rPr lang="en-US" sz="1000" b="1" dirty="0">
                <a:solidFill>
                  <a:schemeClr val="bg1"/>
                </a:solidFill>
              </a:rPr>
              <a:t>PRIMARY FOCUS</a:t>
            </a:r>
            <a:endParaRPr lang="en-US" sz="1000" dirty="0"/>
          </a:p>
        </p:txBody>
      </p:sp>
      <p:sp>
        <p:nvSpPr>
          <p:cNvPr id="6" name="WS1 text"/>
          <p:cNvSpPr txBox="1"/>
          <p:nvPr/>
        </p:nvSpPr>
        <p:spPr>
          <a:xfrm>
            <a:off x="778612" y="2221992"/>
            <a:ext cx="3063240" cy="2743200"/>
          </a:xfrm>
          <a:prstGeom prst="rect">
            <a:avLst/>
          </a:prstGeom>
          <a:noFill/>
          <a:ln/>
        </p:spPr>
        <p:txBody>
          <a:bodyPr wrap="square" lIns="0" tIns="0" rIns="0" bIns="0" rtlCol="0" anchor="t"/>
          <a:lstStyle/>
          <a:p>
            <a:pPr indent="0" marL="0">
              <a:spcAft>
                <a:spcPts val="400"/>
              </a:spcAft>
              <a:buNone/>
            </a:pPr>
            <a:r>
              <a:rPr lang="en-US" sz="1100" b="1" dirty="0">
                <a:solidFill>
                  <a:schemeClr val="accent1"/>
                </a:solidFill>
              </a:rPr>
              <a:t>WORKSTREAM 1</a:t>
            </a:r>
            <a:endParaRPr lang="en-US" sz="1100" dirty="0"/>
          </a:p>
          <a:p>
            <a:pPr indent="0" marL="0">
              <a:spcAft>
                <a:spcPts val="1000"/>
              </a:spcAft>
              <a:buNone/>
            </a:pPr>
            <a:r>
              <a:rPr lang="en-US" sz="1800" b="1" dirty="0">
                <a:solidFill>
                  <a:schemeClr val="tx1"/>
                </a:solidFill>
              </a:rPr>
              <a:t>Generic Electrical Engineering</a:t>
            </a:r>
            <a:endParaRPr lang="en-US" sz="1100" dirty="0"/>
          </a:p>
          <a:p>
            <a:pPr indent="0" marL="0">
              <a:buNone/>
            </a:pPr>
            <a:r>
              <a:rPr lang="en-US" sz="1400" b="1" dirty="0">
                <a:solidFill>
                  <a:schemeClr val="tx1"/>
                </a:solidFill>
              </a:rPr>
              <a:t>Lead: </a:t>
            </a:r>
            <a:pPr indent="0" marL="0">
              <a:spcAft>
                <a:spcPts val="1000"/>
              </a:spcAft>
              <a:buNone/>
            </a:pPr>
            <a:r>
              <a:rPr lang="en-US" sz="1400" dirty="0">
                <a:solidFill>
                  <a:schemeClr val="tx1"/>
                </a:solidFill>
              </a:rPr>
              <a:t>India Team</a:t>
            </a:r>
            <a:endParaRPr lang="en-US" sz="1100" dirty="0"/>
          </a:p>
          <a:p>
            <a:pPr indent="0" marL="0">
              <a:spcAft>
                <a:spcPts val="1000"/>
              </a:spcAft>
              <a:buNone/>
            </a:pPr>
            <a:r>
              <a:rPr lang="en-US" sz="1300" dirty="0">
                <a:solidFill>
                  <a:schemeClr val="tx2"/>
                </a:solidFill>
              </a:rPr>
              <a:t>Capability requirements for generic electrical engineering, starting from the PETRONAS electrical ruler.</a:t>
            </a:r>
            <a:endParaRPr lang="en-US" sz="1100" dirty="0"/>
          </a:p>
          <a:p>
            <a:pPr indent="0" marL="0">
              <a:buNone/>
            </a:pPr>
            <a:r>
              <a:rPr lang="en-US" sz="1300" i="1" dirty="0">
                <a:solidFill>
                  <a:schemeClr val="tx1"/>
                </a:solidFill>
              </a:rPr>
              <a:t>Yusri to reach out to Sid for assistance and coordination.</a:t>
            </a:r>
            <a:endParaRPr lang="en-US" sz="1100" dirty="0"/>
          </a:p>
        </p:txBody>
      </p:sp>
      <p:sp>
        <p:nvSpPr>
          <p:cNvPr id="7" name="WS2 card"/>
          <p:cNvSpPr/>
          <p:nvPr/>
        </p:nvSpPr>
        <p:spPr>
          <a:xfrm>
            <a:off x="4335628" y="1600200"/>
            <a:ext cx="3520440" cy="3520440"/>
          </a:xfrm>
          <a:prstGeom prst="roundRect">
            <a:avLst>
              <a:gd name="adj" fmla="val 3896"/>
            </a:avLst>
          </a:prstGeom>
          <a:solidFill>
            <a:schemeClr val="bg1"/>
          </a:solidFill>
          <a:ln w="25400">
            <a:solidFill>
              <a:schemeClr val="accent2"/>
            </a:solidFill>
            <a:prstDash val="solid"/>
          </a:ln>
        </p:spPr>
      </p:sp>
      <p:sp>
        <p:nvSpPr>
          <p:cNvPr id="8" name="WS2 tag"/>
          <p:cNvSpPr/>
          <p:nvPr/>
        </p:nvSpPr>
        <p:spPr>
          <a:xfrm>
            <a:off x="4564228" y="1828800"/>
            <a:ext cx="1325880" cy="256032"/>
          </a:xfrm>
          <a:prstGeom prst="roundRect">
            <a:avLst>
              <a:gd name="adj" fmla="val 46429"/>
            </a:avLst>
          </a:prstGeom>
          <a:solidFill>
            <a:schemeClr val="accent2"/>
          </a:solidFill>
          <a:ln/>
        </p:spPr>
        <p:txBody>
          <a:bodyPr wrap="square" lIns="0" tIns="0" rIns="0" bIns="0" rtlCol="0" anchor="ctr"/>
          <a:lstStyle/>
          <a:p>
            <a:pPr algn="ctr" indent="0" marL="0">
              <a:buNone/>
            </a:pPr>
            <a:r>
              <a:rPr lang="en-US" sz="1000" b="1" dirty="0">
                <a:solidFill>
                  <a:schemeClr val="bg1"/>
                </a:solidFill>
              </a:rPr>
              <a:t>PRIMARY FOCUS</a:t>
            </a:r>
            <a:endParaRPr lang="en-US" sz="1000" dirty="0"/>
          </a:p>
        </p:txBody>
      </p:sp>
      <p:sp>
        <p:nvSpPr>
          <p:cNvPr id="9" name="WS2 text"/>
          <p:cNvSpPr txBox="1"/>
          <p:nvPr/>
        </p:nvSpPr>
        <p:spPr>
          <a:xfrm>
            <a:off x="4564228" y="2221992"/>
            <a:ext cx="3063240" cy="2743200"/>
          </a:xfrm>
          <a:prstGeom prst="rect">
            <a:avLst/>
          </a:prstGeom>
          <a:noFill/>
          <a:ln/>
        </p:spPr>
        <p:txBody>
          <a:bodyPr wrap="square" lIns="0" tIns="0" rIns="0" bIns="0" rtlCol="0" anchor="t"/>
          <a:lstStyle/>
          <a:p>
            <a:pPr indent="0" marL="0">
              <a:spcAft>
                <a:spcPts val="400"/>
              </a:spcAft>
              <a:buNone/>
            </a:pPr>
            <a:r>
              <a:rPr lang="en-US" sz="1100" b="1" dirty="0">
                <a:solidFill>
                  <a:schemeClr val="accent2"/>
                </a:solidFill>
              </a:rPr>
              <a:t>WORKSTREAM 2</a:t>
            </a:r>
            <a:endParaRPr lang="en-US" sz="1100" dirty="0"/>
          </a:p>
          <a:p>
            <a:pPr indent="0" marL="0">
              <a:spcAft>
                <a:spcPts val="1000"/>
              </a:spcAft>
              <a:buNone/>
            </a:pPr>
            <a:r>
              <a:rPr lang="en-US" sz="1800" b="1" dirty="0">
                <a:solidFill>
                  <a:schemeClr val="tx1"/>
                </a:solidFill>
              </a:rPr>
              <a:t>Renewables-Specific Electrical Engineering</a:t>
            </a:r>
            <a:endParaRPr lang="en-US" sz="1100" dirty="0"/>
          </a:p>
          <a:p>
            <a:pPr indent="0" marL="0">
              <a:buNone/>
            </a:pPr>
            <a:r>
              <a:rPr lang="en-US" sz="1400" b="1" dirty="0">
                <a:solidFill>
                  <a:schemeClr val="tx1"/>
                </a:solidFill>
              </a:rPr>
              <a:t>Lead: </a:t>
            </a:r>
            <a:pPr indent="0" marL="0">
              <a:spcAft>
                <a:spcPts val="1000"/>
              </a:spcAft>
              <a:buNone/>
            </a:pPr>
            <a:r>
              <a:rPr lang="en-US" sz="1400" dirty="0">
                <a:solidFill>
                  <a:schemeClr val="tx1"/>
                </a:solidFill>
              </a:rPr>
              <a:t>Halem and team</a:t>
            </a:r>
            <a:endParaRPr lang="en-US" sz="1100" dirty="0"/>
          </a:p>
          <a:p>
            <a:pPr indent="0" marL="0">
              <a:spcAft>
                <a:spcPts val="1000"/>
              </a:spcAft>
              <a:buNone/>
            </a:pPr>
            <a:r>
              <a:rPr lang="en-US" sz="1300" dirty="0">
                <a:solidFill>
                  <a:schemeClr val="tx2"/>
                </a:solidFill>
              </a:rPr>
              <a:t>Capability requirements specific to Renewables technologies: Solar, Energy Storage and Wind.</a:t>
            </a:r>
            <a:endParaRPr lang="en-US" sz="1100" dirty="0"/>
          </a:p>
          <a:p>
            <a:pPr indent="0" marL="0">
              <a:buNone/>
            </a:pPr>
            <a:r>
              <a:rPr lang="en-US" sz="1300" i="1" dirty="0">
                <a:solidFill>
                  <a:schemeClr val="tx1"/>
                </a:solidFill>
              </a:rPr>
              <a:t>Focus on renewables-specific capability requirements.</a:t>
            </a:r>
            <a:endParaRPr lang="en-US" sz="1100" dirty="0"/>
          </a:p>
        </p:txBody>
      </p:sp>
      <p:sp>
        <p:nvSpPr>
          <p:cNvPr id="10" name="WS3 card"/>
          <p:cNvSpPr/>
          <p:nvPr/>
        </p:nvSpPr>
        <p:spPr>
          <a:xfrm>
            <a:off x="8121244" y="1600200"/>
            <a:ext cx="3520440" cy="3520440"/>
          </a:xfrm>
          <a:prstGeom prst="roundRect">
            <a:avLst>
              <a:gd name="adj" fmla="val 3896"/>
            </a:avLst>
          </a:prstGeom>
          <a:solidFill>
            <a:schemeClr val="bg1"/>
          </a:solidFill>
          <a:ln w="25400">
            <a:solidFill>
              <a:schemeClr val="accent3"/>
            </a:solidFill>
            <a:prstDash val="solid"/>
          </a:ln>
        </p:spPr>
      </p:sp>
      <p:sp>
        <p:nvSpPr>
          <p:cNvPr id="11" name="WS3 tag"/>
          <p:cNvSpPr/>
          <p:nvPr/>
        </p:nvSpPr>
        <p:spPr>
          <a:xfrm>
            <a:off x="8349844" y="1828800"/>
            <a:ext cx="1325880" cy="256032"/>
          </a:xfrm>
          <a:prstGeom prst="roundRect">
            <a:avLst>
              <a:gd name="adj" fmla="val 46429"/>
            </a:avLst>
          </a:prstGeom>
          <a:solidFill>
            <a:schemeClr val="bg2"/>
          </a:solidFill>
          <a:ln/>
        </p:spPr>
        <p:txBody>
          <a:bodyPr wrap="square" lIns="0" tIns="0" rIns="0" bIns="0" rtlCol="0" anchor="ctr"/>
          <a:lstStyle/>
          <a:p>
            <a:pPr algn="ctr" indent="0" marL="0">
              <a:buNone/>
            </a:pPr>
            <a:r>
              <a:rPr lang="en-US" sz="1000" b="1" dirty="0">
                <a:solidFill>
                  <a:schemeClr val="accent4"/>
                </a:solidFill>
              </a:rPr>
              <a:t>IN PARALLEL</a:t>
            </a:r>
            <a:endParaRPr lang="en-US" sz="1000" dirty="0"/>
          </a:p>
        </p:txBody>
      </p:sp>
      <p:sp>
        <p:nvSpPr>
          <p:cNvPr id="12" name="WS3 text"/>
          <p:cNvSpPr txBox="1"/>
          <p:nvPr/>
        </p:nvSpPr>
        <p:spPr>
          <a:xfrm>
            <a:off x="8349844" y="2221992"/>
            <a:ext cx="3063240" cy="2743200"/>
          </a:xfrm>
          <a:prstGeom prst="rect">
            <a:avLst/>
          </a:prstGeom>
          <a:noFill/>
          <a:ln/>
        </p:spPr>
        <p:txBody>
          <a:bodyPr wrap="square" lIns="0" tIns="0" rIns="0" bIns="0" rtlCol="0" anchor="t"/>
          <a:lstStyle/>
          <a:p>
            <a:pPr indent="0" marL="0">
              <a:spcAft>
                <a:spcPts val="400"/>
              </a:spcAft>
              <a:buNone/>
            </a:pPr>
            <a:r>
              <a:rPr lang="en-US" sz="1100" b="1" dirty="0">
                <a:solidFill>
                  <a:schemeClr val="accent3"/>
                </a:solidFill>
              </a:rPr>
              <a:t>WORKSTREAM 3</a:t>
            </a:r>
            <a:endParaRPr lang="en-US" sz="1100" dirty="0"/>
          </a:p>
          <a:p>
            <a:pPr indent="0" marL="0">
              <a:spcAft>
                <a:spcPts val="1000"/>
              </a:spcAft>
              <a:buNone/>
            </a:pPr>
            <a:r>
              <a:rPr lang="en-US" sz="1800" b="1" dirty="0">
                <a:solidFill>
                  <a:schemeClr val="tx1"/>
                </a:solidFill>
              </a:rPr>
              <a:t>Job Competency Profile (JCP) / Job Family (JF)</a:t>
            </a:r>
            <a:endParaRPr lang="en-US" sz="1100" dirty="0"/>
          </a:p>
          <a:p>
            <a:pPr indent="0" marL="0">
              <a:buNone/>
            </a:pPr>
            <a:r>
              <a:rPr lang="en-US" sz="1400" b="1" dirty="0">
                <a:solidFill>
                  <a:schemeClr val="tx1"/>
                </a:solidFill>
              </a:rPr>
              <a:t>Lead: </a:t>
            </a:r>
            <a:pPr indent="0" marL="0">
              <a:spcAft>
                <a:spcPts val="1000"/>
              </a:spcAft>
              <a:buNone/>
            </a:pPr>
            <a:r>
              <a:rPr lang="en-US" sz="1400" dirty="0">
                <a:solidFill>
                  <a:schemeClr val="tx1"/>
                </a:solidFill>
              </a:rPr>
              <a:t>Nizam</a:t>
            </a:r>
            <a:endParaRPr lang="en-US" sz="1100" dirty="0"/>
          </a:p>
          <a:p>
            <a:pPr indent="0" marL="0">
              <a:spcAft>
                <a:spcPts val="1000"/>
              </a:spcAft>
              <a:buNone/>
            </a:pPr>
            <a:r>
              <a:rPr lang="en-US" sz="1300" dirty="0">
                <a:solidFill>
                  <a:schemeClr val="tx2"/>
                </a:solidFill>
              </a:rPr>
              <a:t>Works alongside Workstreams 1 and 2 so the JCP stays aligned with the overall capability framework.</a:t>
            </a:r>
            <a:endParaRPr lang="en-US" sz="1100" dirty="0"/>
          </a:p>
          <a:p>
            <a:pPr indent="0" marL="0">
              <a:buNone/>
            </a:pPr>
            <a:r>
              <a:rPr lang="en-US" sz="1300" i="1" dirty="0">
                <a:solidFill>
                  <a:schemeClr val="tx1"/>
                </a:solidFill>
              </a:rPr>
              <a:t>Checkpoint alignment at each workstream update.</a:t>
            </a:r>
            <a:endParaRPr lang="en-US" sz="1100" dirty="0"/>
          </a:p>
        </p:txBody>
      </p:sp>
      <p:sp>
        <p:nvSpPr>
          <p:cNvPr id="13" name="Next update callout"/>
          <p:cNvSpPr/>
          <p:nvPr/>
        </p:nvSpPr>
        <p:spPr>
          <a:xfrm>
            <a:off x="550012" y="5440680"/>
            <a:ext cx="11091672" cy="685800"/>
          </a:xfrm>
          <a:prstGeom prst="roundRect">
            <a:avLst>
              <a:gd name="adj" fmla="val 13333"/>
            </a:avLst>
          </a:prstGeom>
          <a:solidFill>
            <a:schemeClr val="accent6"/>
          </a:solidFill>
          <a:ln/>
        </p:spPr>
        <p:txBody>
          <a:bodyPr wrap="square" lIns="177800" tIns="177800" rIns="177800" bIns="177800" rtlCol="0" anchor="ctr"/>
          <a:lstStyle/>
          <a:p>
            <a:pPr indent="0" marL="0">
              <a:buNone/>
            </a:pPr>
            <a:r>
              <a:rPr lang="en-US" sz="1400" b="1" dirty="0">
                <a:solidFill>
                  <a:schemeClr val="tx1"/>
                </a:solidFill>
              </a:rPr>
              <a:t>Next progress update: </a:t>
            </a:r>
            <a:pPr indent="0" marL="0">
              <a:buNone/>
            </a:pPr>
            <a:r>
              <a:rPr lang="en-US" sz="1400" dirty="0">
                <a:solidFill>
                  <a:schemeClr val="tx1"/>
                </a:solidFill>
              </a:rPr>
              <a:t>Thursday 15 Oct 2026. Each workstream shares progress, key developments and any areas requiring further alignment.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85800"/>
          </a:xfrm>
          <a:prstGeom prst="rect">
            <a:avLst/>
          </a:prstGeom>
          <a:noFill/>
          <a:ln/>
        </p:spPr>
        <p:txBody>
          <a:bodyPr wrap="square" lIns="0" tIns="0" rIns="0" bIns="0" rtlCol="0" anchor="ctr"/>
          <a:lstStyle/>
          <a:p>
            <a:pPr algn="l" indent="0" marL="0">
              <a:buNone/>
            </a:pPr>
            <a:r>
              <a:rPr lang="en-US" sz="3000" b="1" dirty="0">
                <a:solidFill>
                  <a:schemeClr val="tx1"/>
                </a:solidFill>
                <a:latin typeface="Arial" pitchFamily="34" charset="0"/>
                <a:ea typeface="Arial" pitchFamily="34" charset="-122"/>
                <a:cs typeface="Arial" pitchFamily="34" charset="-120"/>
              </a:rPr>
              <a:t>Revised timeline: pilot runs to Apr 2027</a:t>
            </a:r>
            <a:endParaRPr lang="en-US" sz="3000" dirty="0"/>
          </a:p>
        </p:txBody>
      </p:sp>
      <p:sp>
        <p:nvSpPr>
          <p:cNvPr id="3" name="Subtitle"/>
          <p:cNvSpPr txBox="1"/>
          <p:nvPr/>
        </p:nvSpPr>
        <p:spPr>
          <a:xfrm>
            <a:off x="548640" y="1024128"/>
            <a:ext cx="11091672" cy="320040"/>
          </a:xfrm>
          <a:prstGeom prst="rect">
            <a:avLst/>
          </a:prstGeom>
          <a:noFill/>
          <a:ln/>
        </p:spPr>
        <p:txBody>
          <a:bodyPr wrap="square" lIns="0" tIns="0" rIns="0" bIns="0" rtlCol="0" anchor="ctr"/>
          <a:lstStyle/>
          <a:p>
            <a:pPr indent="0" marL="0">
              <a:buNone/>
            </a:pPr>
            <a:r>
              <a:rPr lang="en-US" sz="1400" dirty="0">
                <a:solidFill>
                  <a:schemeClr val="tx2"/>
                </a:solidFill>
              </a:rPr>
              <a:t>Proposed windows for confirmation at the 15 Oct workstream update  |  Dates after securing the ruler shift with PETRONAS management approval</a:t>
            </a:r>
            <a:endParaRPr lang="en-US" sz="1400" dirty="0"/>
          </a:p>
        </p:txBody>
      </p:sp>
      <p:sp>
        <p:nvSpPr>
          <p:cNvPr id="4" name="Month Oct"/>
          <p:cNvSpPr txBox="1"/>
          <p:nvPr/>
        </p:nvSpPr>
        <p:spPr>
          <a:xfrm>
            <a:off x="5349240" y="1463040"/>
            <a:ext cx="919921" cy="292608"/>
          </a:xfrm>
          <a:prstGeom prst="rect">
            <a:avLst/>
          </a:prstGeom>
          <a:solidFill>
            <a:schemeClr val="bg1"/>
          </a:solidFill>
          <a:ln/>
        </p:spPr>
        <p:txBody>
          <a:bodyPr wrap="square" lIns="0" tIns="0" rIns="0" bIns="0" rtlCol="0" anchor="ctr"/>
          <a:lstStyle/>
          <a:p>
            <a:pPr algn="ctr" indent="0" marL="0">
              <a:buNone/>
            </a:pPr>
            <a:r>
              <a:rPr lang="en-US" sz="1100" b="1" dirty="0">
                <a:solidFill>
                  <a:schemeClr val="tx2"/>
                </a:solidFill>
              </a:rPr>
              <a:t>Oct</a:t>
            </a:r>
            <a:endParaRPr lang="en-US" sz="1100" dirty="0"/>
          </a:p>
        </p:txBody>
      </p:sp>
      <p:sp>
        <p:nvSpPr>
          <p:cNvPr id="5" name="Month Nov"/>
          <p:cNvSpPr txBox="1"/>
          <p:nvPr/>
        </p:nvSpPr>
        <p:spPr>
          <a:xfrm>
            <a:off x="6269161" y="1463040"/>
            <a:ext cx="890246" cy="292608"/>
          </a:xfrm>
          <a:prstGeom prst="rect">
            <a:avLst/>
          </a:prstGeom>
          <a:solidFill>
            <a:schemeClr val="bg2"/>
          </a:solidFill>
          <a:ln/>
        </p:spPr>
        <p:txBody>
          <a:bodyPr wrap="square" lIns="0" tIns="0" rIns="0" bIns="0" rtlCol="0" anchor="ctr"/>
          <a:lstStyle/>
          <a:p>
            <a:pPr algn="ctr" indent="0" marL="0">
              <a:buNone/>
            </a:pPr>
            <a:r>
              <a:rPr lang="en-US" sz="1100" b="1" dirty="0">
                <a:solidFill>
                  <a:schemeClr val="tx2"/>
                </a:solidFill>
              </a:rPr>
              <a:t>Nov</a:t>
            </a:r>
            <a:endParaRPr lang="en-US" sz="1100" dirty="0"/>
          </a:p>
        </p:txBody>
      </p:sp>
      <p:sp>
        <p:nvSpPr>
          <p:cNvPr id="6" name="Month Dec"/>
          <p:cNvSpPr txBox="1"/>
          <p:nvPr/>
        </p:nvSpPr>
        <p:spPr>
          <a:xfrm>
            <a:off x="7159407" y="1463040"/>
            <a:ext cx="919921" cy="292608"/>
          </a:xfrm>
          <a:prstGeom prst="rect">
            <a:avLst/>
          </a:prstGeom>
          <a:solidFill>
            <a:schemeClr val="bg1"/>
          </a:solidFill>
          <a:ln/>
        </p:spPr>
        <p:txBody>
          <a:bodyPr wrap="square" lIns="0" tIns="0" rIns="0" bIns="0" rtlCol="0" anchor="ctr"/>
          <a:lstStyle/>
          <a:p>
            <a:pPr algn="ctr" indent="0" marL="0">
              <a:buNone/>
            </a:pPr>
            <a:r>
              <a:rPr lang="en-US" sz="1100" b="1" dirty="0">
                <a:solidFill>
                  <a:schemeClr val="tx2"/>
                </a:solidFill>
              </a:rPr>
              <a:t>Dec</a:t>
            </a:r>
            <a:endParaRPr lang="en-US" sz="1100" dirty="0"/>
          </a:p>
        </p:txBody>
      </p:sp>
      <p:sp>
        <p:nvSpPr>
          <p:cNvPr id="7" name="Month Jan"/>
          <p:cNvSpPr txBox="1"/>
          <p:nvPr/>
        </p:nvSpPr>
        <p:spPr>
          <a:xfrm>
            <a:off x="8079328" y="1463040"/>
            <a:ext cx="919921" cy="292608"/>
          </a:xfrm>
          <a:prstGeom prst="rect">
            <a:avLst/>
          </a:prstGeom>
          <a:solidFill>
            <a:schemeClr val="bg2"/>
          </a:solidFill>
          <a:ln/>
        </p:spPr>
        <p:txBody>
          <a:bodyPr wrap="square" lIns="0" tIns="0" rIns="0" bIns="0" rtlCol="0" anchor="ctr"/>
          <a:lstStyle/>
          <a:p>
            <a:pPr algn="ctr" indent="0" marL="0">
              <a:buNone/>
            </a:pPr>
            <a:r>
              <a:rPr lang="en-US" sz="1100" b="1" dirty="0">
                <a:solidFill>
                  <a:schemeClr val="tx2"/>
                </a:solidFill>
              </a:rPr>
              <a:t>Jan</a:t>
            </a:r>
            <a:endParaRPr lang="en-US" sz="1100" dirty="0"/>
          </a:p>
        </p:txBody>
      </p:sp>
      <p:sp>
        <p:nvSpPr>
          <p:cNvPr id="8" name="Month Feb"/>
          <p:cNvSpPr txBox="1"/>
          <p:nvPr/>
        </p:nvSpPr>
        <p:spPr>
          <a:xfrm>
            <a:off x="8999249" y="1463040"/>
            <a:ext cx="830896" cy="292608"/>
          </a:xfrm>
          <a:prstGeom prst="rect">
            <a:avLst/>
          </a:prstGeom>
          <a:solidFill>
            <a:schemeClr val="bg1"/>
          </a:solidFill>
          <a:ln/>
        </p:spPr>
        <p:txBody>
          <a:bodyPr wrap="square" lIns="0" tIns="0" rIns="0" bIns="0" rtlCol="0" anchor="ctr"/>
          <a:lstStyle/>
          <a:p>
            <a:pPr algn="ctr" indent="0" marL="0">
              <a:buNone/>
            </a:pPr>
            <a:r>
              <a:rPr lang="en-US" sz="1100" b="1" dirty="0">
                <a:solidFill>
                  <a:schemeClr val="tx2"/>
                </a:solidFill>
              </a:rPr>
              <a:t>Feb</a:t>
            </a:r>
            <a:endParaRPr lang="en-US" sz="1100" dirty="0"/>
          </a:p>
        </p:txBody>
      </p:sp>
      <p:sp>
        <p:nvSpPr>
          <p:cNvPr id="9" name="Month Mar"/>
          <p:cNvSpPr txBox="1"/>
          <p:nvPr/>
        </p:nvSpPr>
        <p:spPr>
          <a:xfrm>
            <a:off x="9830145" y="1463040"/>
            <a:ext cx="919921" cy="292608"/>
          </a:xfrm>
          <a:prstGeom prst="rect">
            <a:avLst/>
          </a:prstGeom>
          <a:solidFill>
            <a:schemeClr val="bg2"/>
          </a:solidFill>
          <a:ln/>
        </p:spPr>
        <p:txBody>
          <a:bodyPr wrap="square" lIns="0" tIns="0" rIns="0" bIns="0" rtlCol="0" anchor="ctr"/>
          <a:lstStyle/>
          <a:p>
            <a:pPr algn="ctr" indent="0" marL="0">
              <a:buNone/>
            </a:pPr>
            <a:r>
              <a:rPr lang="en-US" sz="1100" b="1" dirty="0">
                <a:solidFill>
                  <a:schemeClr val="tx2"/>
                </a:solidFill>
              </a:rPr>
              <a:t>Mar</a:t>
            </a:r>
            <a:endParaRPr lang="en-US" sz="1100" dirty="0"/>
          </a:p>
        </p:txBody>
      </p:sp>
      <p:sp>
        <p:nvSpPr>
          <p:cNvPr id="10" name="Month Apr"/>
          <p:cNvSpPr txBox="1"/>
          <p:nvPr/>
        </p:nvSpPr>
        <p:spPr>
          <a:xfrm>
            <a:off x="10750066" y="1463040"/>
            <a:ext cx="890246" cy="292608"/>
          </a:xfrm>
          <a:prstGeom prst="rect">
            <a:avLst/>
          </a:prstGeom>
          <a:solidFill>
            <a:schemeClr val="bg1"/>
          </a:solidFill>
          <a:ln/>
        </p:spPr>
        <p:txBody>
          <a:bodyPr wrap="square" lIns="0" tIns="0" rIns="0" bIns="0" rtlCol="0" anchor="ctr"/>
          <a:lstStyle/>
          <a:p>
            <a:pPr algn="ctr" indent="0" marL="0">
              <a:buNone/>
            </a:pPr>
            <a:r>
              <a:rPr lang="en-US" sz="1100" b="1" dirty="0">
                <a:solidFill>
                  <a:schemeClr val="tx2"/>
                </a:solidFill>
              </a:rPr>
              <a:t>Apr</a:t>
            </a:r>
            <a:endParaRPr lang="en-US" sz="1100" dirty="0"/>
          </a:p>
        </p:txBody>
      </p:sp>
      <p:sp>
        <p:nvSpPr>
          <p:cNvPr id="11" name="Row band 1"/>
          <p:cNvSpPr/>
          <p:nvPr/>
        </p:nvSpPr>
        <p:spPr>
          <a:xfrm>
            <a:off x="548640" y="1828800"/>
            <a:ext cx="11091672" cy="402336"/>
          </a:xfrm>
          <a:prstGeom prst="rect">
            <a:avLst/>
          </a:prstGeom>
          <a:solidFill>
            <a:schemeClr val="bg2">
              <a:alpha val="45000"/>
            </a:schemeClr>
          </a:solidFill>
          <a:ln w="12700">
            <a:solidFill>
              <a:schemeClr val="bg2"/>
            </a:solidFill>
            <a:prstDash val="solid"/>
          </a:ln>
        </p:spPr>
      </p:sp>
      <p:sp>
        <p:nvSpPr>
          <p:cNvPr id="12" name="Row band 3"/>
          <p:cNvSpPr/>
          <p:nvPr/>
        </p:nvSpPr>
        <p:spPr>
          <a:xfrm>
            <a:off x="548640" y="2633472"/>
            <a:ext cx="11091672" cy="402336"/>
          </a:xfrm>
          <a:prstGeom prst="rect">
            <a:avLst/>
          </a:prstGeom>
          <a:solidFill>
            <a:schemeClr val="bg2">
              <a:alpha val="45000"/>
            </a:schemeClr>
          </a:solidFill>
          <a:ln w="12700">
            <a:solidFill>
              <a:schemeClr val="bg2"/>
            </a:solidFill>
            <a:prstDash val="solid"/>
          </a:ln>
        </p:spPr>
      </p:sp>
      <p:sp>
        <p:nvSpPr>
          <p:cNvPr id="13" name="Row band 5"/>
          <p:cNvSpPr/>
          <p:nvPr/>
        </p:nvSpPr>
        <p:spPr>
          <a:xfrm>
            <a:off x="548640" y="3438144"/>
            <a:ext cx="11091672" cy="402336"/>
          </a:xfrm>
          <a:prstGeom prst="rect">
            <a:avLst/>
          </a:prstGeom>
          <a:solidFill>
            <a:schemeClr val="bg2">
              <a:alpha val="45000"/>
            </a:schemeClr>
          </a:solidFill>
          <a:ln w="12700">
            <a:solidFill>
              <a:schemeClr val="bg2"/>
            </a:solidFill>
            <a:prstDash val="solid"/>
          </a:ln>
        </p:spPr>
      </p:sp>
      <p:sp>
        <p:nvSpPr>
          <p:cNvPr id="14" name="Row band 7"/>
          <p:cNvSpPr/>
          <p:nvPr/>
        </p:nvSpPr>
        <p:spPr>
          <a:xfrm>
            <a:off x="548640" y="4242816"/>
            <a:ext cx="11091672" cy="402336"/>
          </a:xfrm>
          <a:prstGeom prst="rect">
            <a:avLst/>
          </a:prstGeom>
          <a:solidFill>
            <a:schemeClr val="bg2">
              <a:alpha val="45000"/>
            </a:schemeClr>
          </a:solidFill>
          <a:ln w="12700">
            <a:solidFill>
              <a:schemeClr val="bg2"/>
            </a:solidFill>
            <a:prstDash val="solid"/>
          </a:ln>
        </p:spPr>
      </p:sp>
      <p:sp>
        <p:nvSpPr>
          <p:cNvPr id="15" name="Row band 9"/>
          <p:cNvSpPr/>
          <p:nvPr/>
        </p:nvSpPr>
        <p:spPr>
          <a:xfrm>
            <a:off x="548640" y="5047488"/>
            <a:ext cx="11091672" cy="402336"/>
          </a:xfrm>
          <a:prstGeom prst="rect">
            <a:avLst/>
          </a:prstGeom>
          <a:solidFill>
            <a:schemeClr val="bg2">
              <a:alpha val="45000"/>
            </a:schemeClr>
          </a:solidFill>
          <a:ln w="12700">
            <a:solidFill>
              <a:schemeClr val="bg2"/>
            </a:solidFill>
            <a:prstDash val="solid"/>
          </a:ln>
        </p:spPr>
      </p:sp>
      <p:sp>
        <p:nvSpPr>
          <p:cNvPr id="16" name="Row label 1"/>
          <p:cNvSpPr txBox="1"/>
          <p:nvPr/>
        </p:nvSpPr>
        <p:spPr>
          <a:xfrm>
            <a:off x="621792" y="1828800"/>
            <a:ext cx="3246120" cy="402336"/>
          </a:xfrm>
          <a:prstGeom prst="rect">
            <a:avLst/>
          </a:prstGeom>
          <a:noFill/>
          <a:ln/>
        </p:spPr>
        <p:txBody>
          <a:bodyPr wrap="square" lIns="0" tIns="0" rIns="0" bIns="0" rtlCol="0" anchor="ctr"/>
          <a:lstStyle/>
          <a:p>
            <a:pPr indent="0" marL="0">
              <a:buNone/>
            </a:pPr>
            <a:r>
              <a:rPr lang="en-US" sz="1100" b="1" dirty="0">
                <a:solidFill>
                  <a:schemeClr val="accent1"/>
                </a:solidFill>
              </a:rPr>
              <a:t>WS1  </a:t>
            </a:r>
            <a:pPr indent="0" marL="0">
              <a:buNone/>
            </a:pPr>
            <a:r>
              <a:rPr lang="en-US" sz="1200" b="1" dirty="0">
                <a:solidFill>
                  <a:schemeClr val="tx1"/>
                </a:solidFill>
              </a:rPr>
              <a:t>Secure PETRONAS ruler</a:t>
            </a:r>
            <a:endParaRPr lang="en-US" sz="1100" dirty="0"/>
          </a:p>
        </p:txBody>
      </p:sp>
      <p:sp>
        <p:nvSpPr>
          <p:cNvPr id="17" name="Row dates 1"/>
          <p:cNvSpPr txBox="1"/>
          <p:nvPr/>
        </p:nvSpPr>
        <p:spPr>
          <a:xfrm>
            <a:off x="3931920" y="1828800"/>
            <a:ext cx="1371600" cy="402336"/>
          </a:xfrm>
          <a:prstGeom prst="rect">
            <a:avLst/>
          </a:prstGeom>
          <a:noFill/>
          <a:ln/>
        </p:spPr>
        <p:txBody>
          <a:bodyPr wrap="square" lIns="0" tIns="0" rIns="0" bIns="0" rtlCol="0" anchor="ctr"/>
          <a:lstStyle/>
          <a:p>
            <a:pPr indent="0" marL="0">
              <a:buNone/>
            </a:pPr>
            <a:r>
              <a:rPr lang="en-US" sz="1100" dirty="0">
                <a:solidFill>
                  <a:schemeClr val="tx2"/>
                </a:solidFill>
              </a:rPr>
              <a:t>Now – 6 Nov</a:t>
            </a:r>
            <a:endParaRPr lang="en-US" sz="1100" dirty="0"/>
          </a:p>
        </p:txBody>
      </p:sp>
      <p:sp>
        <p:nvSpPr>
          <p:cNvPr id="18" name="Bar 1"/>
          <p:cNvSpPr/>
          <p:nvPr/>
        </p:nvSpPr>
        <p:spPr>
          <a:xfrm>
            <a:off x="5556964" y="1929384"/>
            <a:ext cx="860571" cy="201168"/>
          </a:xfrm>
          <a:prstGeom prst="roundRect">
            <a:avLst>
              <a:gd name="adj" fmla="val 22727"/>
            </a:avLst>
          </a:prstGeom>
          <a:solidFill>
            <a:schemeClr val="accent1"/>
          </a:solidFill>
          <a:ln w="12700">
            <a:solidFill>
              <a:schemeClr val="accent1"/>
            </a:solidFill>
            <a:prstDash val="solid"/>
          </a:ln>
        </p:spPr>
      </p:sp>
      <p:sp>
        <p:nvSpPr>
          <p:cNvPr id="19" name="Row label 2"/>
          <p:cNvSpPr txBox="1"/>
          <p:nvPr/>
        </p:nvSpPr>
        <p:spPr>
          <a:xfrm>
            <a:off x="621792" y="2231136"/>
            <a:ext cx="3246120" cy="402336"/>
          </a:xfrm>
          <a:prstGeom prst="rect">
            <a:avLst/>
          </a:prstGeom>
          <a:noFill/>
          <a:ln/>
        </p:spPr>
        <p:txBody>
          <a:bodyPr wrap="square" lIns="0" tIns="0" rIns="0" bIns="0" rtlCol="0" anchor="ctr"/>
          <a:lstStyle/>
          <a:p>
            <a:pPr indent="0" marL="0">
              <a:buNone/>
            </a:pPr>
            <a:r>
              <a:rPr lang="en-US" sz="1100" b="1" dirty="0">
                <a:solidFill>
                  <a:schemeClr val="accent1"/>
                </a:solidFill>
              </a:rPr>
              <a:t>WS1  </a:t>
            </a:r>
            <a:pPr indent="0" marL="0">
              <a:buNone/>
            </a:pPr>
            <a:r>
              <a:rPr lang="en-US" sz="1200" b="1" dirty="0">
                <a:solidFill>
                  <a:schemeClr val="tx1"/>
                </a:solidFill>
              </a:rPr>
              <a:t>Customise generic ruler</a:t>
            </a:r>
            <a:endParaRPr lang="en-US" sz="1100" dirty="0"/>
          </a:p>
        </p:txBody>
      </p:sp>
      <p:sp>
        <p:nvSpPr>
          <p:cNvPr id="20" name="Row dates 2"/>
          <p:cNvSpPr txBox="1"/>
          <p:nvPr/>
        </p:nvSpPr>
        <p:spPr>
          <a:xfrm>
            <a:off x="3931920" y="2231136"/>
            <a:ext cx="1371600" cy="402336"/>
          </a:xfrm>
          <a:prstGeom prst="rect">
            <a:avLst/>
          </a:prstGeom>
          <a:noFill/>
          <a:ln/>
        </p:spPr>
        <p:txBody>
          <a:bodyPr wrap="square" lIns="0" tIns="0" rIns="0" bIns="0" rtlCol="0" anchor="ctr"/>
          <a:lstStyle/>
          <a:p>
            <a:pPr indent="0" marL="0">
              <a:buNone/>
            </a:pPr>
            <a:r>
              <a:rPr lang="en-US" sz="1100" dirty="0">
                <a:solidFill>
                  <a:schemeClr val="tx2"/>
                </a:solidFill>
              </a:rPr>
              <a:t>9 Nov – 4 Dec</a:t>
            </a:r>
            <a:endParaRPr lang="en-US" sz="1100" dirty="0"/>
          </a:p>
        </p:txBody>
      </p:sp>
      <p:sp>
        <p:nvSpPr>
          <p:cNvPr id="21" name="Bar 2"/>
          <p:cNvSpPr/>
          <p:nvPr/>
        </p:nvSpPr>
        <p:spPr>
          <a:xfrm>
            <a:off x="6506560" y="2331720"/>
            <a:ext cx="741872" cy="201168"/>
          </a:xfrm>
          <a:prstGeom prst="roundRect">
            <a:avLst>
              <a:gd name="adj" fmla="val 22727"/>
            </a:avLst>
          </a:prstGeom>
          <a:solidFill>
            <a:schemeClr val="accent1"/>
          </a:solidFill>
          <a:ln w="12700">
            <a:solidFill>
              <a:schemeClr val="accent1"/>
            </a:solidFill>
            <a:prstDash val="solid"/>
          </a:ln>
        </p:spPr>
      </p:sp>
      <p:sp>
        <p:nvSpPr>
          <p:cNvPr id="22" name="Row label 3"/>
          <p:cNvSpPr txBox="1"/>
          <p:nvPr/>
        </p:nvSpPr>
        <p:spPr>
          <a:xfrm>
            <a:off x="621792" y="2633472"/>
            <a:ext cx="3246120" cy="402336"/>
          </a:xfrm>
          <a:prstGeom prst="rect">
            <a:avLst/>
          </a:prstGeom>
          <a:noFill/>
          <a:ln/>
        </p:spPr>
        <p:txBody>
          <a:bodyPr wrap="square" lIns="0" tIns="0" rIns="0" bIns="0" rtlCol="0" anchor="ctr"/>
          <a:lstStyle/>
          <a:p>
            <a:pPr indent="0" marL="0">
              <a:buNone/>
            </a:pPr>
            <a:r>
              <a:rPr lang="en-US" sz="1100" b="1" dirty="0">
                <a:solidFill>
                  <a:schemeClr val="accent1"/>
                </a:solidFill>
              </a:rPr>
              <a:t>WS1  </a:t>
            </a:r>
            <a:pPr indent="0" marL="0">
              <a:buNone/>
            </a:pPr>
            <a:r>
              <a:rPr lang="en-US" sz="1200" b="1" dirty="0">
                <a:solidFill>
                  <a:schemeClr val="tx1"/>
                </a:solidFill>
              </a:rPr>
              <a:t>Review &amp; refine ruler</a:t>
            </a:r>
            <a:endParaRPr lang="en-US" sz="1100" dirty="0"/>
          </a:p>
        </p:txBody>
      </p:sp>
      <p:sp>
        <p:nvSpPr>
          <p:cNvPr id="23" name="Row dates 3"/>
          <p:cNvSpPr txBox="1"/>
          <p:nvPr/>
        </p:nvSpPr>
        <p:spPr>
          <a:xfrm>
            <a:off x="3931920" y="2633472"/>
            <a:ext cx="1371600" cy="402336"/>
          </a:xfrm>
          <a:prstGeom prst="rect">
            <a:avLst/>
          </a:prstGeom>
          <a:noFill/>
          <a:ln/>
        </p:spPr>
        <p:txBody>
          <a:bodyPr wrap="square" lIns="0" tIns="0" rIns="0" bIns="0" rtlCol="0" anchor="ctr"/>
          <a:lstStyle/>
          <a:p>
            <a:pPr indent="0" marL="0">
              <a:buNone/>
            </a:pPr>
            <a:r>
              <a:rPr lang="en-US" sz="1100" dirty="0">
                <a:solidFill>
                  <a:schemeClr val="tx2"/>
                </a:solidFill>
              </a:rPr>
              <a:t>7 Dec – 15 Jan</a:t>
            </a:r>
            <a:endParaRPr lang="en-US" sz="1100" dirty="0"/>
          </a:p>
        </p:txBody>
      </p:sp>
      <p:sp>
        <p:nvSpPr>
          <p:cNvPr id="24" name="Bar 3"/>
          <p:cNvSpPr/>
          <p:nvPr/>
        </p:nvSpPr>
        <p:spPr>
          <a:xfrm>
            <a:off x="7337456" y="2734056"/>
            <a:ext cx="1157320" cy="201168"/>
          </a:xfrm>
          <a:prstGeom prst="roundRect">
            <a:avLst>
              <a:gd name="adj" fmla="val 22727"/>
            </a:avLst>
          </a:prstGeom>
          <a:solidFill>
            <a:schemeClr val="accent1"/>
          </a:solidFill>
          <a:ln w="12700">
            <a:solidFill>
              <a:schemeClr val="accent1"/>
            </a:solidFill>
            <a:prstDash val="solid"/>
          </a:ln>
        </p:spPr>
      </p:sp>
      <p:sp>
        <p:nvSpPr>
          <p:cNvPr id="25" name="Row label 4"/>
          <p:cNvSpPr txBox="1"/>
          <p:nvPr/>
        </p:nvSpPr>
        <p:spPr>
          <a:xfrm>
            <a:off x="621792" y="3035808"/>
            <a:ext cx="3246120" cy="402336"/>
          </a:xfrm>
          <a:prstGeom prst="rect">
            <a:avLst/>
          </a:prstGeom>
          <a:noFill/>
          <a:ln/>
        </p:spPr>
        <p:txBody>
          <a:bodyPr wrap="square" lIns="0" tIns="0" rIns="0" bIns="0" rtlCol="0" anchor="ctr"/>
          <a:lstStyle/>
          <a:p>
            <a:pPr indent="0" marL="0">
              <a:buNone/>
            </a:pPr>
            <a:r>
              <a:rPr lang="en-US" sz="1100" b="1" dirty="0">
                <a:solidFill>
                  <a:schemeClr val="accent2"/>
                </a:solidFill>
              </a:rPr>
              <a:t>WS2  </a:t>
            </a:r>
            <a:pPr indent="0" marL="0">
              <a:buNone/>
            </a:pPr>
            <a:r>
              <a:rPr lang="en-US" sz="1200" b="1" dirty="0">
                <a:solidFill>
                  <a:schemeClr val="tx1"/>
                </a:solidFill>
              </a:rPr>
              <a:t>Define renewables requirements</a:t>
            </a:r>
            <a:endParaRPr lang="en-US" sz="1100" dirty="0"/>
          </a:p>
        </p:txBody>
      </p:sp>
      <p:sp>
        <p:nvSpPr>
          <p:cNvPr id="26" name="Row dates 4"/>
          <p:cNvSpPr txBox="1"/>
          <p:nvPr/>
        </p:nvSpPr>
        <p:spPr>
          <a:xfrm>
            <a:off x="3931920" y="3035808"/>
            <a:ext cx="1371600" cy="402336"/>
          </a:xfrm>
          <a:prstGeom prst="rect">
            <a:avLst/>
          </a:prstGeom>
          <a:noFill/>
          <a:ln/>
        </p:spPr>
        <p:txBody>
          <a:bodyPr wrap="square" lIns="0" tIns="0" rIns="0" bIns="0" rtlCol="0" anchor="ctr"/>
          <a:lstStyle/>
          <a:p>
            <a:pPr indent="0" marL="0">
              <a:buNone/>
            </a:pPr>
            <a:r>
              <a:rPr lang="en-US" sz="1100" dirty="0">
                <a:solidFill>
                  <a:schemeClr val="tx2"/>
                </a:solidFill>
              </a:rPr>
              <a:t>19 Oct – 4 Dec</a:t>
            </a:r>
            <a:endParaRPr lang="en-US" sz="1100" dirty="0"/>
          </a:p>
        </p:txBody>
      </p:sp>
      <p:sp>
        <p:nvSpPr>
          <p:cNvPr id="27" name="Bar 4"/>
          <p:cNvSpPr/>
          <p:nvPr/>
        </p:nvSpPr>
        <p:spPr>
          <a:xfrm>
            <a:off x="5883388" y="3136392"/>
            <a:ext cx="1365044" cy="201168"/>
          </a:xfrm>
          <a:prstGeom prst="roundRect">
            <a:avLst>
              <a:gd name="adj" fmla="val 22727"/>
            </a:avLst>
          </a:prstGeom>
          <a:solidFill>
            <a:schemeClr val="accent2"/>
          </a:solidFill>
          <a:ln w="12700">
            <a:solidFill>
              <a:schemeClr val="accent2"/>
            </a:solidFill>
            <a:prstDash val="solid"/>
          </a:ln>
        </p:spPr>
      </p:sp>
      <p:sp>
        <p:nvSpPr>
          <p:cNvPr id="28" name="Row label 5"/>
          <p:cNvSpPr txBox="1"/>
          <p:nvPr/>
        </p:nvSpPr>
        <p:spPr>
          <a:xfrm>
            <a:off x="621792" y="3438144"/>
            <a:ext cx="3246120" cy="402336"/>
          </a:xfrm>
          <a:prstGeom prst="rect">
            <a:avLst/>
          </a:prstGeom>
          <a:noFill/>
          <a:ln/>
        </p:spPr>
        <p:txBody>
          <a:bodyPr wrap="square" lIns="0" tIns="0" rIns="0" bIns="0" rtlCol="0" anchor="ctr"/>
          <a:lstStyle/>
          <a:p>
            <a:pPr indent="0" marL="0">
              <a:buNone/>
            </a:pPr>
            <a:r>
              <a:rPr lang="en-US" sz="1100" b="1" dirty="0">
                <a:solidFill>
                  <a:schemeClr val="accent2"/>
                </a:solidFill>
              </a:rPr>
              <a:t>WS2  </a:t>
            </a:r>
            <a:pPr indent="0" marL="0">
              <a:buNone/>
            </a:pPr>
            <a:r>
              <a:rPr lang="en-US" sz="1200" b="1" dirty="0">
                <a:solidFill>
                  <a:schemeClr val="tx1"/>
                </a:solidFill>
              </a:rPr>
              <a:t>Review &amp; refine requirements</a:t>
            </a:r>
            <a:endParaRPr lang="en-US" sz="1100" dirty="0"/>
          </a:p>
        </p:txBody>
      </p:sp>
      <p:sp>
        <p:nvSpPr>
          <p:cNvPr id="29" name="Row dates 5"/>
          <p:cNvSpPr txBox="1"/>
          <p:nvPr/>
        </p:nvSpPr>
        <p:spPr>
          <a:xfrm>
            <a:off x="3931920" y="3438144"/>
            <a:ext cx="1371600" cy="402336"/>
          </a:xfrm>
          <a:prstGeom prst="rect">
            <a:avLst/>
          </a:prstGeom>
          <a:noFill/>
          <a:ln/>
        </p:spPr>
        <p:txBody>
          <a:bodyPr wrap="square" lIns="0" tIns="0" rIns="0" bIns="0" rtlCol="0" anchor="ctr"/>
          <a:lstStyle/>
          <a:p>
            <a:pPr indent="0" marL="0">
              <a:buNone/>
            </a:pPr>
            <a:r>
              <a:rPr lang="en-US" sz="1100" dirty="0">
                <a:solidFill>
                  <a:schemeClr val="tx2"/>
                </a:solidFill>
              </a:rPr>
              <a:t>7 Dec – 15 Jan</a:t>
            </a:r>
            <a:endParaRPr lang="en-US" sz="1100" dirty="0"/>
          </a:p>
        </p:txBody>
      </p:sp>
      <p:sp>
        <p:nvSpPr>
          <p:cNvPr id="30" name="Bar 5"/>
          <p:cNvSpPr/>
          <p:nvPr/>
        </p:nvSpPr>
        <p:spPr>
          <a:xfrm>
            <a:off x="7337456" y="3538728"/>
            <a:ext cx="1157320" cy="201168"/>
          </a:xfrm>
          <a:prstGeom prst="roundRect">
            <a:avLst>
              <a:gd name="adj" fmla="val 22727"/>
            </a:avLst>
          </a:prstGeom>
          <a:solidFill>
            <a:schemeClr val="accent2"/>
          </a:solidFill>
          <a:ln w="12700">
            <a:solidFill>
              <a:schemeClr val="accent2"/>
            </a:solidFill>
            <a:prstDash val="solid"/>
          </a:ln>
        </p:spPr>
      </p:sp>
      <p:sp>
        <p:nvSpPr>
          <p:cNvPr id="31" name="Row label 6"/>
          <p:cNvSpPr txBox="1"/>
          <p:nvPr/>
        </p:nvSpPr>
        <p:spPr>
          <a:xfrm>
            <a:off x="621792" y="3840480"/>
            <a:ext cx="3246120" cy="402336"/>
          </a:xfrm>
          <a:prstGeom prst="rect">
            <a:avLst/>
          </a:prstGeom>
          <a:noFill/>
          <a:ln/>
        </p:spPr>
        <p:txBody>
          <a:bodyPr wrap="square" lIns="0" tIns="0" rIns="0" bIns="0" rtlCol="0" anchor="ctr"/>
          <a:lstStyle/>
          <a:p>
            <a:pPr indent="0" marL="0">
              <a:buNone/>
            </a:pPr>
            <a:r>
              <a:rPr lang="en-US" sz="1100" b="1" dirty="0">
                <a:solidFill>
                  <a:schemeClr val="accent3"/>
                </a:solidFill>
              </a:rPr>
              <a:t>WS3  </a:t>
            </a:r>
            <a:pPr indent="0" marL="0">
              <a:buNone/>
            </a:pPr>
            <a:r>
              <a:rPr lang="en-US" sz="1200" b="1" dirty="0">
                <a:solidFill>
                  <a:schemeClr val="tx1"/>
                </a:solidFill>
              </a:rPr>
              <a:t>Align JCP/JF to framework</a:t>
            </a:r>
            <a:endParaRPr lang="en-US" sz="1100" dirty="0"/>
          </a:p>
        </p:txBody>
      </p:sp>
      <p:sp>
        <p:nvSpPr>
          <p:cNvPr id="32" name="Row dates 6"/>
          <p:cNvSpPr txBox="1"/>
          <p:nvPr/>
        </p:nvSpPr>
        <p:spPr>
          <a:xfrm>
            <a:off x="3931920" y="3840480"/>
            <a:ext cx="1371600" cy="402336"/>
          </a:xfrm>
          <a:prstGeom prst="rect">
            <a:avLst/>
          </a:prstGeom>
          <a:noFill/>
          <a:ln/>
        </p:spPr>
        <p:txBody>
          <a:bodyPr wrap="square" lIns="0" tIns="0" rIns="0" bIns="0" rtlCol="0" anchor="ctr"/>
          <a:lstStyle/>
          <a:p>
            <a:pPr indent="0" marL="0">
              <a:buNone/>
            </a:pPr>
            <a:r>
              <a:rPr lang="en-US" sz="1100" dirty="0">
                <a:solidFill>
                  <a:schemeClr val="tx2"/>
                </a:solidFill>
              </a:rPr>
              <a:t>Now – 15 Jan</a:t>
            </a:r>
            <a:endParaRPr lang="en-US" sz="1100" dirty="0"/>
          </a:p>
        </p:txBody>
      </p:sp>
      <p:sp>
        <p:nvSpPr>
          <p:cNvPr id="33" name="Bar 6"/>
          <p:cNvSpPr/>
          <p:nvPr/>
        </p:nvSpPr>
        <p:spPr>
          <a:xfrm>
            <a:off x="5556964" y="3941064"/>
            <a:ext cx="2937812" cy="201168"/>
          </a:xfrm>
          <a:prstGeom prst="roundRect">
            <a:avLst>
              <a:gd name="adj" fmla="val 22727"/>
            </a:avLst>
          </a:prstGeom>
          <a:solidFill>
            <a:schemeClr val="accent3"/>
          </a:solidFill>
          <a:ln w="12700">
            <a:solidFill>
              <a:schemeClr val="accent3"/>
            </a:solidFill>
            <a:prstDash val="solid"/>
          </a:ln>
        </p:spPr>
      </p:sp>
      <p:sp>
        <p:nvSpPr>
          <p:cNvPr id="34" name="Row label 7"/>
          <p:cNvSpPr txBox="1"/>
          <p:nvPr/>
        </p:nvSpPr>
        <p:spPr>
          <a:xfrm>
            <a:off x="621792" y="4242816"/>
            <a:ext cx="3246120" cy="402336"/>
          </a:xfrm>
          <a:prstGeom prst="rect">
            <a:avLst/>
          </a:prstGeom>
          <a:noFill/>
          <a:ln/>
        </p:spPr>
        <p:txBody>
          <a:bodyPr wrap="square" lIns="0" tIns="0" rIns="0" bIns="0" rtlCol="0" anchor="ctr"/>
          <a:lstStyle/>
          <a:p>
            <a:pPr indent="0" marL="0">
              <a:buNone/>
            </a:pPr>
            <a:r>
              <a:rPr lang="en-US" sz="1100" b="1" dirty="0">
                <a:solidFill>
                  <a:schemeClr val="accent4"/>
                </a:solidFill>
              </a:rPr>
              <a:t>ALL  </a:t>
            </a:r>
            <a:pPr indent="0" marL="0">
              <a:buNone/>
            </a:pPr>
            <a:r>
              <a:rPr lang="en-US" sz="1200" b="1" dirty="0">
                <a:solidFill>
                  <a:schemeClr val="tx1"/>
                </a:solidFill>
              </a:rPr>
              <a:t>Identify &amp; brief pilot group</a:t>
            </a:r>
            <a:endParaRPr lang="en-US" sz="1100" dirty="0"/>
          </a:p>
        </p:txBody>
      </p:sp>
      <p:sp>
        <p:nvSpPr>
          <p:cNvPr id="35" name="Row dates 7"/>
          <p:cNvSpPr txBox="1"/>
          <p:nvPr/>
        </p:nvSpPr>
        <p:spPr>
          <a:xfrm>
            <a:off x="3931920" y="4242816"/>
            <a:ext cx="1371600" cy="402336"/>
          </a:xfrm>
          <a:prstGeom prst="rect">
            <a:avLst/>
          </a:prstGeom>
          <a:noFill/>
          <a:ln/>
        </p:spPr>
        <p:txBody>
          <a:bodyPr wrap="square" lIns="0" tIns="0" rIns="0" bIns="0" rtlCol="0" anchor="ctr"/>
          <a:lstStyle/>
          <a:p>
            <a:pPr indent="0" marL="0">
              <a:buNone/>
            </a:pPr>
            <a:r>
              <a:rPr lang="en-US" sz="1100" dirty="0">
                <a:solidFill>
                  <a:schemeClr val="tx2"/>
                </a:solidFill>
              </a:rPr>
              <a:t>16 Nov – 18 Dec</a:t>
            </a:r>
            <a:endParaRPr lang="en-US" sz="1100" dirty="0"/>
          </a:p>
        </p:txBody>
      </p:sp>
      <p:sp>
        <p:nvSpPr>
          <p:cNvPr id="36" name="Bar 7"/>
          <p:cNvSpPr/>
          <p:nvPr/>
        </p:nvSpPr>
        <p:spPr>
          <a:xfrm>
            <a:off x="6714284" y="4343400"/>
            <a:ext cx="949596" cy="201168"/>
          </a:xfrm>
          <a:prstGeom prst="roundRect">
            <a:avLst>
              <a:gd name="adj" fmla="val 22727"/>
            </a:avLst>
          </a:prstGeom>
          <a:solidFill>
            <a:schemeClr val="accent4"/>
          </a:solidFill>
          <a:ln w="12700">
            <a:solidFill>
              <a:schemeClr val="accent4"/>
            </a:solidFill>
            <a:prstDash val="solid"/>
          </a:ln>
        </p:spPr>
      </p:sp>
      <p:sp>
        <p:nvSpPr>
          <p:cNvPr id="37" name="Row label 8"/>
          <p:cNvSpPr txBox="1"/>
          <p:nvPr/>
        </p:nvSpPr>
        <p:spPr>
          <a:xfrm>
            <a:off x="621792" y="4645152"/>
            <a:ext cx="3246120" cy="402336"/>
          </a:xfrm>
          <a:prstGeom prst="rect">
            <a:avLst/>
          </a:prstGeom>
          <a:noFill/>
          <a:ln/>
        </p:spPr>
        <p:txBody>
          <a:bodyPr wrap="square" lIns="0" tIns="0" rIns="0" bIns="0" rtlCol="0" anchor="ctr"/>
          <a:lstStyle/>
          <a:p>
            <a:pPr indent="0" marL="0">
              <a:buNone/>
            </a:pPr>
            <a:r>
              <a:rPr lang="en-US" sz="1100" b="1" dirty="0">
                <a:solidFill>
                  <a:schemeClr val="accent4"/>
                </a:solidFill>
              </a:rPr>
              <a:t>WS1+2  </a:t>
            </a:r>
            <a:pPr indent="0" marL="0">
              <a:buNone/>
            </a:pPr>
            <a:r>
              <a:rPr lang="en-US" sz="1200" b="1" dirty="0">
                <a:solidFill>
                  <a:schemeClr val="tx1"/>
                </a:solidFill>
              </a:rPr>
              <a:t>Apply ruler, identify gaps</a:t>
            </a:r>
            <a:endParaRPr lang="en-US" sz="1100" dirty="0"/>
          </a:p>
        </p:txBody>
      </p:sp>
      <p:sp>
        <p:nvSpPr>
          <p:cNvPr id="38" name="Row dates 8"/>
          <p:cNvSpPr txBox="1"/>
          <p:nvPr/>
        </p:nvSpPr>
        <p:spPr>
          <a:xfrm>
            <a:off x="3931920" y="4645152"/>
            <a:ext cx="1371600" cy="402336"/>
          </a:xfrm>
          <a:prstGeom prst="rect">
            <a:avLst/>
          </a:prstGeom>
          <a:noFill/>
          <a:ln/>
        </p:spPr>
        <p:txBody>
          <a:bodyPr wrap="square" lIns="0" tIns="0" rIns="0" bIns="0" rtlCol="0" anchor="ctr"/>
          <a:lstStyle/>
          <a:p>
            <a:pPr indent="0" marL="0">
              <a:buNone/>
            </a:pPr>
            <a:r>
              <a:rPr lang="en-US" sz="1100" dirty="0">
                <a:solidFill>
                  <a:schemeClr val="tx2"/>
                </a:solidFill>
              </a:rPr>
              <a:t>18 Jan – 26 Feb</a:t>
            </a:r>
            <a:endParaRPr lang="en-US" sz="1100" dirty="0"/>
          </a:p>
        </p:txBody>
      </p:sp>
      <p:sp>
        <p:nvSpPr>
          <p:cNvPr id="39" name="Bar 8"/>
          <p:cNvSpPr/>
          <p:nvPr/>
        </p:nvSpPr>
        <p:spPr>
          <a:xfrm>
            <a:off x="8583801" y="4745736"/>
            <a:ext cx="1157320" cy="201168"/>
          </a:xfrm>
          <a:prstGeom prst="roundRect">
            <a:avLst>
              <a:gd name="adj" fmla="val 22727"/>
            </a:avLst>
          </a:prstGeom>
          <a:solidFill>
            <a:schemeClr val="accent4"/>
          </a:solidFill>
          <a:ln w="12700">
            <a:solidFill>
              <a:schemeClr val="accent4"/>
            </a:solidFill>
            <a:prstDash val="solid"/>
          </a:ln>
        </p:spPr>
      </p:sp>
      <p:sp>
        <p:nvSpPr>
          <p:cNvPr id="40" name="Row label 9"/>
          <p:cNvSpPr txBox="1"/>
          <p:nvPr/>
        </p:nvSpPr>
        <p:spPr>
          <a:xfrm>
            <a:off x="621792" y="5047488"/>
            <a:ext cx="3246120" cy="402336"/>
          </a:xfrm>
          <a:prstGeom prst="rect">
            <a:avLst/>
          </a:prstGeom>
          <a:noFill/>
          <a:ln/>
        </p:spPr>
        <p:txBody>
          <a:bodyPr wrap="square" lIns="0" tIns="0" rIns="0" bIns="0" rtlCol="0" anchor="ctr"/>
          <a:lstStyle/>
          <a:p>
            <a:pPr indent="0" marL="0">
              <a:buNone/>
            </a:pPr>
            <a:r>
              <a:rPr lang="en-US" sz="1100" b="1" dirty="0">
                <a:solidFill>
                  <a:schemeClr val="accent4"/>
                </a:solidFill>
              </a:rPr>
              <a:t>ALL  </a:t>
            </a:r>
            <a:pPr indent="0" marL="0">
              <a:buNone/>
            </a:pPr>
            <a:r>
              <a:rPr lang="en-US" sz="1200" b="1" dirty="0">
                <a:solidFill>
                  <a:schemeClr val="tx1"/>
                </a:solidFill>
              </a:rPr>
              <a:t>Link gaps to IDPs</a:t>
            </a:r>
            <a:endParaRPr lang="en-US" sz="1100" dirty="0"/>
          </a:p>
        </p:txBody>
      </p:sp>
      <p:sp>
        <p:nvSpPr>
          <p:cNvPr id="41" name="Row dates 9"/>
          <p:cNvSpPr txBox="1"/>
          <p:nvPr/>
        </p:nvSpPr>
        <p:spPr>
          <a:xfrm>
            <a:off x="3931920" y="5047488"/>
            <a:ext cx="1371600" cy="402336"/>
          </a:xfrm>
          <a:prstGeom prst="rect">
            <a:avLst/>
          </a:prstGeom>
          <a:noFill/>
          <a:ln/>
        </p:spPr>
        <p:txBody>
          <a:bodyPr wrap="square" lIns="0" tIns="0" rIns="0" bIns="0" rtlCol="0" anchor="ctr"/>
          <a:lstStyle/>
          <a:p>
            <a:pPr indent="0" marL="0">
              <a:buNone/>
            </a:pPr>
            <a:r>
              <a:rPr lang="en-US" sz="1100" dirty="0">
                <a:solidFill>
                  <a:schemeClr val="tx2"/>
                </a:solidFill>
              </a:rPr>
              <a:t>1 – 26 Mar</a:t>
            </a:r>
            <a:endParaRPr lang="en-US" sz="1100" dirty="0"/>
          </a:p>
        </p:txBody>
      </p:sp>
      <p:sp>
        <p:nvSpPr>
          <p:cNvPr id="42" name="Bar 9"/>
          <p:cNvSpPr/>
          <p:nvPr/>
        </p:nvSpPr>
        <p:spPr>
          <a:xfrm>
            <a:off x="9830145" y="5148072"/>
            <a:ext cx="741872" cy="201168"/>
          </a:xfrm>
          <a:prstGeom prst="roundRect">
            <a:avLst>
              <a:gd name="adj" fmla="val 22727"/>
            </a:avLst>
          </a:prstGeom>
          <a:solidFill>
            <a:schemeClr val="accent4"/>
          </a:solidFill>
          <a:ln w="12700">
            <a:solidFill>
              <a:schemeClr val="accent4"/>
            </a:solidFill>
            <a:prstDash val="solid"/>
          </a:ln>
        </p:spPr>
      </p:sp>
      <p:sp>
        <p:nvSpPr>
          <p:cNvPr id="43" name="Row label 10"/>
          <p:cNvSpPr txBox="1"/>
          <p:nvPr/>
        </p:nvSpPr>
        <p:spPr>
          <a:xfrm>
            <a:off x="621792" y="5449824"/>
            <a:ext cx="3246120" cy="402336"/>
          </a:xfrm>
          <a:prstGeom prst="rect">
            <a:avLst/>
          </a:prstGeom>
          <a:noFill/>
          <a:ln/>
        </p:spPr>
        <p:txBody>
          <a:bodyPr wrap="square" lIns="0" tIns="0" rIns="0" bIns="0" rtlCol="0" anchor="ctr"/>
          <a:lstStyle/>
          <a:p>
            <a:pPr indent="0" marL="0">
              <a:buNone/>
            </a:pPr>
            <a:r>
              <a:rPr lang="en-US" sz="1100" b="1" dirty="0">
                <a:solidFill>
                  <a:schemeClr val="accent4"/>
                </a:solidFill>
              </a:rPr>
              <a:t>ALL  </a:t>
            </a:r>
            <a:pPr indent="0" marL="0">
              <a:buNone/>
            </a:pPr>
            <a:r>
              <a:rPr lang="en-US" sz="1200" b="1" dirty="0">
                <a:solidFill>
                  <a:schemeClr val="tx1"/>
                </a:solidFill>
              </a:rPr>
              <a:t>Review pilot outcomes</a:t>
            </a:r>
            <a:endParaRPr lang="en-US" sz="1100" dirty="0"/>
          </a:p>
        </p:txBody>
      </p:sp>
      <p:sp>
        <p:nvSpPr>
          <p:cNvPr id="44" name="Row dates 10"/>
          <p:cNvSpPr txBox="1"/>
          <p:nvPr/>
        </p:nvSpPr>
        <p:spPr>
          <a:xfrm>
            <a:off x="3931920" y="5449824"/>
            <a:ext cx="1371600" cy="402336"/>
          </a:xfrm>
          <a:prstGeom prst="rect">
            <a:avLst/>
          </a:prstGeom>
          <a:noFill/>
          <a:ln/>
        </p:spPr>
        <p:txBody>
          <a:bodyPr wrap="square" lIns="0" tIns="0" rIns="0" bIns="0" rtlCol="0" anchor="ctr"/>
          <a:lstStyle/>
          <a:p>
            <a:pPr indent="0" marL="0">
              <a:buNone/>
            </a:pPr>
            <a:r>
              <a:rPr lang="en-US" sz="1100" dirty="0">
                <a:solidFill>
                  <a:schemeClr val="tx2"/>
                </a:solidFill>
              </a:rPr>
              <a:t>Apr (SCo TBC)</a:t>
            </a:r>
            <a:endParaRPr lang="en-US" sz="1100" dirty="0"/>
          </a:p>
        </p:txBody>
      </p:sp>
      <p:sp>
        <p:nvSpPr>
          <p:cNvPr id="45" name="Bar 10"/>
          <p:cNvSpPr/>
          <p:nvPr/>
        </p:nvSpPr>
        <p:spPr>
          <a:xfrm>
            <a:off x="10661041" y="5550408"/>
            <a:ext cx="949596" cy="201168"/>
          </a:xfrm>
          <a:prstGeom prst="roundRect">
            <a:avLst>
              <a:gd name="adj" fmla="val 22727"/>
            </a:avLst>
          </a:prstGeom>
          <a:solidFill>
            <a:schemeClr val="accent4"/>
          </a:solidFill>
          <a:ln w="12700">
            <a:solidFill>
              <a:schemeClr val="accent4"/>
            </a:solidFill>
            <a:prstDash val="solid"/>
          </a:ln>
        </p:spPr>
      </p:sp>
      <p:sp>
        <p:nvSpPr>
          <p:cNvPr id="46" name="Milestone line 1"/>
          <p:cNvSpPr/>
          <p:nvPr/>
        </p:nvSpPr>
        <p:spPr>
          <a:xfrm>
            <a:off x="5764688" y="1801368"/>
            <a:ext cx="0" cy="4050792"/>
          </a:xfrm>
          <a:prstGeom prst="line">
            <a:avLst/>
          </a:prstGeom>
          <a:noFill/>
          <a:ln w="19050">
            <a:solidFill>
              <a:schemeClr val="accent5"/>
            </a:solidFill>
            <a:prstDash val="dash"/>
          </a:ln>
        </p:spPr>
      </p:sp>
      <p:sp>
        <p:nvSpPr>
          <p:cNvPr id="47" name="Milestone line 2"/>
          <p:cNvSpPr/>
          <p:nvPr/>
        </p:nvSpPr>
        <p:spPr>
          <a:xfrm>
            <a:off x="6091112" y="1801368"/>
            <a:ext cx="0" cy="4050792"/>
          </a:xfrm>
          <a:prstGeom prst="line">
            <a:avLst/>
          </a:prstGeom>
          <a:noFill/>
          <a:ln w="19050">
            <a:solidFill>
              <a:schemeClr val="accent5"/>
            </a:solidFill>
            <a:prstDash val="dash"/>
          </a:ln>
        </p:spPr>
      </p:sp>
      <p:sp>
        <p:nvSpPr>
          <p:cNvPr id="48" name="Milestone label 15 Oct"/>
          <p:cNvSpPr txBox="1"/>
          <p:nvPr/>
        </p:nvSpPr>
        <p:spPr>
          <a:xfrm>
            <a:off x="4347368" y="5907024"/>
            <a:ext cx="1371600" cy="256032"/>
          </a:xfrm>
          <a:prstGeom prst="rect">
            <a:avLst/>
          </a:prstGeom>
          <a:noFill/>
          <a:ln/>
        </p:spPr>
        <p:txBody>
          <a:bodyPr wrap="square" lIns="0" tIns="0" rIns="0" bIns="0" rtlCol="0" anchor="ctr"/>
          <a:lstStyle/>
          <a:p>
            <a:pPr algn="r" indent="0" marL="0">
              <a:buNone/>
            </a:pPr>
            <a:r>
              <a:rPr lang="en-US" sz="1100" b="1" dirty="0">
                <a:solidFill>
                  <a:schemeClr val="tx1"/>
                </a:solidFill>
              </a:rPr>
              <a:t>15 Oct: WS update</a:t>
            </a:r>
            <a:endParaRPr lang="en-US" sz="1100" dirty="0"/>
          </a:p>
        </p:txBody>
      </p:sp>
      <p:sp>
        <p:nvSpPr>
          <p:cNvPr id="49" name="Milestone label 26 Oct"/>
          <p:cNvSpPr txBox="1"/>
          <p:nvPr/>
        </p:nvSpPr>
        <p:spPr>
          <a:xfrm>
            <a:off x="6136832" y="5907024"/>
            <a:ext cx="1280160" cy="256032"/>
          </a:xfrm>
          <a:prstGeom prst="rect">
            <a:avLst/>
          </a:prstGeom>
          <a:noFill/>
          <a:ln/>
        </p:spPr>
        <p:txBody>
          <a:bodyPr wrap="square" lIns="0" tIns="0" rIns="0" bIns="0" rtlCol="0" anchor="ctr"/>
          <a:lstStyle/>
          <a:p>
            <a:pPr indent="0" marL="0">
              <a:buNone/>
            </a:pPr>
            <a:r>
              <a:rPr lang="en-US" sz="1100" b="1" dirty="0">
                <a:solidFill>
                  <a:schemeClr val="tx1"/>
                </a:solidFill>
              </a:rPr>
              <a:t>26 Oct: SCo</a:t>
            </a:r>
            <a:endParaRPr lang="en-US" sz="1100" dirty="0"/>
          </a:p>
        </p:txBody>
      </p:sp>
      <p:sp>
        <p:nvSpPr>
          <p:cNvPr id="50" name="Legend swatch 1"/>
          <p:cNvSpPr/>
          <p:nvPr/>
        </p:nvSpPr>
        <p:spPr>
          <a:xfrm>
            <a:off x="621792" y="6364224"/>
            <a:ext cx="274320" cy="146304"/>
          </a:xfrm>
          <a:prstGeom prst="roundRect">
            <a:avLst>
              <a:gd name="adj" fmla="val 25000"/>
            </a:avLst>
          </a:prstGeom>
          <a:solidFill>
            <a:schemeClr val="accent1"/>
          </a:solidFill>
          <a:ln w="12700">
            <a:solidFill>
              <a:schemeClr val="accent1"/>
            </a:solidFill>
            <a:prstDash val="solid"/>
          </a:ln>
        </p:spPr>
      </p:sp>
      <p:sp>
        <p:nvSpPr>
          <p:cNvPr id="51" name="Legend label 1"/>
          <p:cNvSpPr txBox="1"/>
          <p:nvPr/>
        </p:nvSpPr>
        <p:spPr>
          <a:xfrm>
            <a:off x="969264" y="6309360"/>
            <a:ext cx="2468880" cy="256032"/>
          </a:xfrm>
          <a:prstGeom prst="rect">
            <a:avLst/>
          </a:prstGeom>
          <a:noFill/>
          <a:ln/>
        </p:spPr>
        <p:txBody>
          <a:bodyPr wrap="square" lIns="0" tIns="0" rIns="0" bIns="0" rtlCol="0" anchor="ctr"/>
          <a:lstStyle/>
          <a:p>
            <a:pPr indent="0" marL="0">
              <a:buNone/>
            </a:pPr>
            <a:r>
              <a:rPr lang="en-US" sz="1000" dirty="0">
                <a:solidFill>
                  <a:schemeClr val="tx2"/>
                </a:solidFill>
              </a:rPr>
              <a:t>WS1 Generic Electrical (India Team)</a:t>
            </a:r>
            <a:endParaRPr lang="en-US" sz="1000" dirty="0"/>
          </a:p>
        </p:txBody>
      </p:sp>
      <p:sp>
        <p:nvSpPr>
          <p:cNvPr id="52" name="Legend swatch 2"/>
          <p:cNvSpPr/>
          <p:nvPr/>
        </p:nvSpPr>
        <p:spPr>
          <a:xfrm>
            <a:off x="3657600" y="6364224"/>
            <a:ext cx="274320" cy="146304"/>
          </a:xfrm>
          <a:prstGeom prst="roundRect">
            <a:avLst>
              <a:gd name="adj" fmla="val 25000"/>
            </a:avLst>
          </a:prstGeom>
          <a:solidFill>
            <a:schemeClr val="accent2"/>
          </a:solidFill>
          <a:ln w="12700">
            <a:solidFill>
              <a:schemeClr val="accent2"/>
            </a:solidFill>
            <a:prstDash val="solid"/>
          </a:ln>
        </p:spPr>
      </p:sp>
      <p:sp>
        <p:nvSpPr>
          <p:cNvPr id="53" name="Legend label 2"/>
          <p:cNvSpPr txBox="1"/>
          <p:nvPr/>
        </p:nvSpPr>
        <p:spPr>
          <a:xfrm>
            <a:off x="4005072" y="6309360"/>
            <a:ext cx="2468880" cy="256032"/>
          </a:xfrm>
          <a:prstGeom prst="rect">
            <a:avLst/>
          </a:prstGeom>
          <a:noFill/>
          <a:ln/>
        </p:spPr>
        <p:txBody>
          <a:bodyPr wrap="square" lIns="0" tIns="0" rIns="0" bIns="0" rtlCol="0" anchor="ctr"/>
          <a:lstStyle/>
          <a:p>
            <a:pPr indent="0" marL="0">
              <a:buNone/>
            </a:pPr>
            <a:r>
              <a:rPr lang="en-US" sz="1000" dirty="0">
                <a:solidFill>
                  <a:schemeClr val="tx2"/>
                </a:solidFill>
              </a:rPr>
              <a:t>WS2 Renewables (Halem)</a:t>
            </a:r>
            <a:endParaRPr lang="en-US" sz="1000" dirty="0"/>
          </a:p>
        </p:txBody>
      </p:sp>
      <p:sp>
        <p:nvSpPr>
          <p:cNvPr id="54" name="Legend swatch 3"/>
          <p:cNvSpPr/>
          <p:nvPr/>
        </p:nvSpPr>
        <p:spPr>
          <a:xfrm>
            <a:off x="5943600" y="6364224"/>
            <a:ext cx="274320" cy="146304"/>
          </a:xfrm>
          <a:prstGeom prst="roundRect">
            <a:avLst>
              <a:gd name="adj" fmla="val 25000"/>
            </a:avLst>
          </a:prstGeom>
          <a:solidFill>
            <a:schemeClr val="accent3"/>
          </a:solidFill>
          <a:ln w="12700">
            <a:solidFill>
              <a:schemeClr val="accent3"/>
            </a:solidFill>
            <a:prstDash val="solid"/>
          </a:ln>
        </p:spPr>
      </p:sp>
      <p:sp>
        <p:nvSpPr>
          <p:cNvPr id="55" name="Legend label 3"/>
          <p:cNvSpPr txBox="1"/>
          <p:nvPr/>
        </p:nvSpPr>
        <p:spPr>
          <a:xfrm>
            <a:off x="6291072" y="6309360"/>
            <a:ext cx="2468880" cy="256032"/>
          </a:xfrm>
          <a:prstGeom prst="rect">
            <a:avLst/>
          </a:prstGeom>
          <a:noFill/>
          <a:ln/>
        </p:spPr>
        <p:txBody>
          <a:bodyPr wrap="square" lIns="0" tIns="0" rIns="0" bIns="0" rtlCol="0" anchor="ctr"/>
          <a:lstStyle/>
          <a:p>
            <a:pPr indent="0" marL="0">
              <a:buNone/>
            </a:pPr>
            <a:r>
              <a:rPr lang="en-US" sz="1000" dirty="0">
                <a:solidFill>
                  <a:schemeClr val="tx2"/>
                </a:solidFill>
              </a:rPr>
              <a:t>WS3 JCP/JF (Nizam)</a:t>
            </a:r>
            <a:endParaRPr lang="en-US" sz="1000" dirty="0"/>
          </a:p>
        </p:txBody>
      </p:sp>
      <p:sp>
        <p:nvSpPr>
          <p:cNvPr id="56" name="Legend swatch 4"/>
          <p:cNvSpPr/>
          <p:nvPr/>
        </p:nvSpPr>
        <p:spPr>
          <a:xfrm>
            <a:off x="8229600" y="6364224"/>
            <a:ext cx="274320" cy="146304"/>
          </a:xfrm>
          <a:prstGeom prst="roundRect">
            <a:avLst>
              <a:gd name="adj" fmla="val 25000"/>
            </a:avLst>
          </a:prstGeom>
          <a:solidFill>
            <a:schemeClr val="accent4"/>
          </a:solidFill>
          <a:ln w="12700">
            <a:solidFill>
              <a:schemeClr val="accent4"/>
            </a:solidFill>
            <a:prstDash val="solid"/>
          </a:ln>
        </p:spPr>
      </p:sp>
      <p:sp>
        <p:nvSpPr>
          <p:cNvPr id="57" name="Legend label 4"/>
          <p:cNvSpPr txBox="1"/>
          <p:nvPr/>
        </p:nvSpPr>
        <p:spPr>
          <a:xfrm>
            <a:off x="8577072" y="6309360"/>
            <a:ext cx="2468880" cy="256032"/>
          </a:xfrm>
          <a:prstGeom prst="rect">
            <a:avLst/>
          </a:prstGeom>
          <a:noFill/>
          <a:ln/>
        </p:spPr>
        <p:txBody>
          <a:bodyPr wrap="square" lIns="0" tIns="0" rIns="0" bIns="0" rtlCol="0" anchor="ctr"/>
          <a:lstStyle/>
          <a:p>
            <a:pPr indent="0" marL="0">
              <a:buNone/>
            </a:pPr>
            <a:r>
              <a:rPr lang="en-US" sz="1000" dirty="0">
                <a:solidFill>
                  <a:schemeClr val="tx2"/>
                </a:solidFill>
              </a:rPr>
              <a:t>Joint / all workstreams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685800"/>
          </a:xfrm>
          <a:prstGeom prst="rect">
            <a:avLst/>
          </a:prstGeom>
          <a:noFill/>
          <a:ln/>
        </p:spPr>
        <p:txBody>
          <a:bodyPr wrap="square" lIns="0" tIns="0" rIns="0" bIns="0" rtlCol="0" anchor="ctr"/>
          <a:lstStyle/>
          <a:p>
            <a:pPr algn="l" indent="0" marL="0">
              <a:buNone/>
            </a:pPr>
            <a:r>
              <a:rPr lang="en-US" sz="3000" b="1" dirty="0">
                <a:solidFill>
                  <a:schemeClr val="tx1"/>
                </a:solidFill>
                <a:latin typeface="Arial" pitchFamily="34" charset="0"/>
                <a:ea typeface="Arial" pitchFamily="34" charset="-122"/>
                <a:cs typeface="Arial" pitchFamily="34" charset="-120"/>
              </a:rPr>
              <a:t>Next steps, asks of the SCo and risks</a:t>
            </a:r>
            <a:endParaRPr lang="en-US" sz="3000" dirty="0"/>
          </a:p>
        </p:txBody>
      </p:sp>
      <p:sp>
        <p:nvSpPr>
          <p:cNvPr id="3" name="Next steps heading"/>
          <p:cNvSpPr txBox="1"/>
          <p:nvPr/>
        </p:nvSpPr>
        <p:spPr>
          <a:xfrm>
            <a:off x="548640" y="1188720"/>
            <a:ext cx="6858000" cy="365760"/>
          </a:xfrm>
          <a:prstGeom prst="rect">
            <a:avLst/>
          </a:prstGeom>
          <a:noFill/>
          <a:ln/>
        </p:spPr>
        <p:txBody>
          <a:bodyPr wrap="square" lIns="0" tIns="0" rIns="0" bIns="0" rtlCol="0" anchor="ctr"/>
          <a:lstStyle/>
          <a:p>
            <a:pPr indent="0" marL="0">
              <a:buNone/>
            </a:pPr>
            <a:r>
              <a:rPr lang="en-US" sz="1800" b="1" dirty="0">
                <a:solidFill>
                  <a:schemeClr val="tx1"/>
                </a:solidFill>
              </a:rPr>
              <a:t>Next steps</a:t>
            </a:r>
            <a:endParaRPr lang="en-US" sz="1800" dirty="0"/>
          </a:p>
        </p:txBody>
      </p:sp>
      <p:sp>
        <p:nvSpPr>
          <p:cNvPr id="4" name="Step card 1"/>
          <p:cNvSpPr/>
          <p:nvPr/>
        </p:nvSpPr>
        <p:spPr>
          <a:xfrm>
            <a:off x="548640" y="1691640"/>
            <a:ext cx="7040880" cy="1051560"/>
          </a:xfrm>
          <a:prstGeom prst="roundRect">
            <a:avLst>
              <a:gd name="adj" fmla="val 8696"/>
            </a:avLst>
          </a:prstGeom>
          <a:solidFill>
            <a:schemeClr val="bg2"/>
          </a:solidFill>
          <a:ln w="12700">
            <a:solidFill>
              <a:schemeClr val="bg2"/>
            </a:solidFill>
            <a:prstDash val="solid"/>
          </a:ln>
        </p:spPr>
      </p:sp>
      <p:sp>
        <p:nvSpPr>
          <p:cNvPr id="5" name="Step chip 1"/>
          <p:cNvSpPr/>
          <p:nvPr/>
        </p:nvSpPr>
        <p:spPr>
          <a:xfrm>
            <a:off x="731520" y="2034540"/>
            <a:ext cx="1325880" cy="365760"/>
          </a:xfrm>
          <a:prstGeom prst="roundRect">
            <a:avLst>
              <a:gd name="adj" fmla="val 25000"/>
            </a:avLst>
          </a:prstGeom>
          <a:solidFill>
            <a:schemeClr val="accent4"/>
          </a:solidFill>
          <a:ln/>
        </p:spPr>
        <p:txBody>
          <a:bodyPr wrap="square" lIns="0" tIns="0" rIns="0" bIns="0" rtlCol="0" anchor="ctr"/>
          <a:lstStyle/>
          <a:p>
            <a:pPr algn="ctr" indent="0" marL="0">
              <a:buNone/>
            </a:pPr>
            <a:r>
              <a:rPr lang="en-US" sz="1300" b="1" dirty="0">
                <a:solidFill>
                  <a:schemeClr val="bg1"/>
                </a:solidFill>
              </a:rPr>
              <a:t>Ungku</a:t>
            </a:r>
            <a:endParaRPr lang="en-US" sz="1300" dirty="0"/>
          </a:p>
        </p:txBody>
      </p:sp>
      <p:sp>
        <p:nvSpPr>
          <p:cNvPr id="6" name="Step text 1"/>
          <p:cNvSpPr txBox="1"/>
          <p:nvPr/>
        </p:nvSpPr>
        <p:spPr>
          <a:xfrm>
            <a:off x="2240280" y="1691640"/>
            <a:ext cx="5166360" cy="1051560"/>
          </a:xfrm>
          <a:prstGeom prst="rect">
            <a:avLst/>
          </a:prstGeom>
          <a:noFill/>
          <a:ln/>
        </p:spPr>
        <p:txBody>
          <a:bodyPr wrap="square" lIns="0" tIns="0" rIns="0" bIns="0" rtlCol="0" anchor="ctr"/>
          <a:lstStyle/>
          <a:p>
            <a:pPr indent="0" marL="0">
              <a:buNone/>
            </a:pPr>
            <a:r>
              <a:rPr lang="en-US" sz="1400" dirty="0">
                <a:solidFill>
                  <a:schemeClr val="tx1"/>
                </a:solidFill>
              </a:rPr>
              <a:t>Update the Pilot Implementation Deck from the 8 Oct discussion and circulate to the team for review and feedback.</a:t>
            </a:r>
            <a:endParaRPr lang="en-US" sz="1400" dirty="0"/>
          </a:p>
        </p:txBody>
      </p:sp>
      <p:sp>
        <p:nvSpPr>
          <p:cNvPr id="7" name="Step card 2"/>
          <p:cNvSpPr/>
          <p:nvPr/>
        </p:nvSpPr>
        <p:spPr>
          <a:xfrm>
            <a:off x="548640" y="2907792"/>
            <a:ext cx="7040880" cy="1051560"/>
          </a:xfrm>
          <a:prstGeom prst="roundRect">
            <a:avLst>
              <a:gd name="adj" fmla="val 8696"/>
            </a:avLst>
          </a:prstGeom>
          <a:solidFill>
            <a:schemeClr val="bg2"/>
          </a:solidFill>
          <a:ln w="12700">
            <a:solidFill>
              <a:schemeClr val="bg2"/>
            </a:solidFill>
            <a:prstDash val="solid"/>
          </a:ln>
        </p:spPr>
      </p:sp>
      <p:sp>
        <p:nvSpPr>
          <p:cNvPr id="8" name="Step chip 2"/>
          <p:cNvSpPr/>
          <p:nvPr/>
        </p:nvSpPr>
        <p:spPr>
          <a:xfrm>
            <a:off x="731520" y="3250692"/>
            <a:ext cx="1325880" cy="365760"/>
          </a:xfrm>
          <a:prstGeom prst="roundRect">
            <a:avLst>
              <a:gd name="adj" fmla="val 25000"/>
            </a:avLst>
          </a:prstGeom>
          <a:solidFill>
            <a:schemeClr val="accent4"/>
          </a:solidFill>
          <a:ln/>
        </p:spPr>
        <p:txBody>
          <a:bodyPr wrap="square" lIns="0" tIns="0" rIns="0" bIns="0" rtlCol="0" anchor="ctr"/>
          <a:lstStyle/>
          <a:p>
            <a:pPr algn="ctr" indent="0" marL="0">
              <a:buNone/>
            </a:pPr>
            <a:r>
              <a:rPr lang="en-US" sz="1300" b="1" dirty="0">
                <a:solidFill>
                  <a:schemeClr val="bg1"/>
                </a:solidFill>
              </a:rPr>
              <a:t>Yusri</a:t>
            </a:r>
            <a:endParaRPr lang="en-US" sz="1300" dirty="0"/>
          </a:p>
        </p:txBody>
      </p:sp>
      <p:sp>
        <p:nvSpPr>
          <p:cNvPr id="9" name="Step text 2"/>
          <p:cNvSpPr txBox="1"/>
          <p:nvPr/>
        </p:nvSpPr>
        <p:spPr>
          <a:xfrm>
            <a:off x="2240280" y="2907792"/>
            <a:ext cx="5166360" cy="1051560"/>
          </a:xfrm>
          <a:prstGeom prst="rect">
            <a:avLst/>
          </a:prstGeom>
          <a:noFill/>
          <a:ln/>
        </p:spPr>
        <p:txBody>
          <a:bodyPr wrap="square" lIns="0" tIns="0" rIns="0" bIns="0" rtlCol="0" anchor="ctr"/>
          <a:lstStyle/>
          <a:p>
            <a:pPr indent="0" marL="0">
              <a:buNone/>
            </a:pPr>
            <a:r>
              <a:rPr lang="en-US" sz="1400" dirty="0">
                <a:solidFill>
                  <a:schemeClr val="tx1"/>
                </a:solidFill>
              </a:rPr>
              <a:t>Reach out to Sid for assistance and coordination on Workstream 1 (Generic Electrical Engineering).</a:t>
            </a:r>
            <a:endParaRPr lang="en-US" sz="1400" dirty="0"/>
          </a:p>
        </p:txBody>
      </p:sp>
      <p:sp>
        <p:nvSpPr>
          <p:cNvPr id="10" name="Step card 3"/>
          <p:cNvSpPr/>
          <p:nvPr/>
        </p:nvSpPr>
        <p:spPr>
          <a:xfrm>
            <a:off x="548640" y="4123944"/>
            <a:ext cx="7040880" cy="1051560"/>
          </a:xfrm>
          <a:prstGeom prst="roundRect">
            <a:avLst>
              <a:gd name="adj" fmla="val 8696"/>
            </a:avLst>
          </a:prstGeom>
          <a:solidFill>
            <a:schemeClr val="bg2"/>
          </a:solidFill>
          <a:ln w="12700">
            <a:solidFill>
              <a:schemeClr val="bg2"/>
            </a:solidFill>
            <a:prstDash val="solid"/>
          </a:ln>
        </p:spPr>
      </p:sp>
      <p:sp>
        <p:nvSpPr>
          <p:cNvPr id="11" name="Step chip 3"/>
          <p:cNvSpPr/>
          <p:nvPr/>
        </p:nvSpPr>
        <p:spPr>
          <a:xfrm>
            <a:off x="731520" y="4466844"/>
            <a:ext cx="1325880" cy="365760"/>
          </a:xfrm>
          <a:prstGeom prst="roundRect">
            <a:avLst>
              <a:gd name="adj" fmla="val 25000"/>
            </a:avLst>
          </a:prstGeom>
          <a:solidFill>
            <a:schemeClr val="accent5"/>
          </a:solidFill>
          <a:ln/>
        </p:spPr>
        <p:txBody>
          <a:bodyPr wrap="square" lIns="0" tIns="0" rIns="0" bIns="0" rtlCol="0" anchor="ctr"/>
          <a:lstStyle/>
          <a:p>
            <a:pPr algn="ctr" indent="0" marL="0">
              <a:buNone/>
            </a:pPr>
            <a:r>
              <a:rPr lang="en-US" sz="1300" b="1" dirty="0">
                <a:solidFill>
                  <a:schemeClr val="tx1"/>
                </a:solidFill>
              </a:rPr>
              <a:t>Thu 15 Oct</a:t>
            </a:r>
            <a:endParaRPr lang="en-US" sz="1300" dirty="0"/>
          </a:p>
        </p:txBody>
      </p:sp>
      <p:sp>
        <p:nvSpPr>
          <p:cNvPr id="12" name="Step text 3"/>
          <p:cNvSpPr txBox="1"/>
          <p:nvPr/>
        </p:nvSpPr>
        <p:spPr>
          <a:xfrm>
            <a:off x="2240280" y="4123944"/>
            <a:ext cx="5166360" cy="1051560"/>
          </a:xfrm>
          <a:prstGeom prst="rect">
            <a:avLst/>
          </a:prstGeom>
          <a:noFill/>
          <a:ln/>
        </p:spPr>
        <p:txBody>
          <a:bodyPr wrap="square" lIns="0" tIns="0" rIns="0" bIns="0" rtlCol="0" anchor="ctr"/>
          <a:lstStyle/>
          <a:p>
            <a:pPr indent="0" marL="0">
              <a:buNone/>
            </a:pPr>
            <a:r>
              <a:rPr lang="en-US" sz="1400" dirty="0">
                <a:solidFill>
                  <a:schemeClr val="tx1"/>
                </a:solidFill>
              </a:rPr>
              <a:t>Reconvene: each workstream shares progress, key developments and any areas requiring further alignment.</a:t>
            </a:r>
            <a:endParaRPr lang="en-US" sz="1400" dirty="0"/>
          </a:p>
        </p:txBody>
      </p:sp>
      <p:sp>
        <p:nvSpPr>
          <p:cNvPr id="13" name="Step card 4"/>
          <p:cNvSpPr/>
          <p:nvPr/>
        </p:nvSpPr>
        <p:spPr>
          <a:xfrm>
            <a:off x="548640" y="5340096"/>
            <a:ext cx="7040880" cy="1051560"/>
          </a:xfrm>
          <a:prstGeom prst="roundRect">
            <a:avLst>
              <a:gd name="adj" fmla="val 8696"/>
            </a:avLst>
          </a:prstGeom>
          <a:solidFill>
            <a:schemeClr val="bg2"/>
          </a:solidFill>
          <a:ln w="12700">
            <a:solidFill>
              <a:schemeClr val="bg2"/>
            </a:solidFill>
            <a:prstDash val="solid"/>
          </a:ln>
        </p:spPr>
      </p:sp>
      <p:sp>
        <p:nvSpPr>
          <p:cNvPr id="14" name="Step chip 4"/>
          <p:cNvSpPr/>
          <p:nvPr/>
        </p:nvSpPr>
        <p:spPr>
          <a:xfrm>
            <a:off x="731520" y="5682996"/>
            <a:ext cx="1325880" cy="365760"/>
          </a:xfrm>
          <a:prstGeom prst="roundRect">
            <a:avLst>
              <a:gd name="adj" fmla="val 25000"/>
            </a:avLst>
          </a:prstGeom>
          <a:solidFill>
            <a:schemeClr val="accent5"/>
          </a:solidFill>
          <a:ln/>
        </p:spPr>
        <p:txBody>
          <a:bodyPr wrap="square" lIns="0" tIns="0" rIns="0" bIns="0" rtlCol="0" anchor="ctr"/>
          <a:lstStyle/>
          <a:p>
            <a:pPr algn="ctr" indent="0" marL="0">
              <a:buNone/>
            </a:pPr>
            <a:r>
              <a:rPr lang="en-US" sz="1300" b="1" dirty="0">
                <a:solidFill>
                  <a:schemeClr val="tx1"/>
                </a:solidFill>
              </a:rPr>
              <a:t>26 Oct</a:t>
            </a:r>
            <a:endParaRPr lang="en-US" sz="1300" dirty="0"/>
          </a:p>
        </p:txBody>
      </p:sp>
      <p:sp>
        <p:nvSpPr>
          <p:cNvPr id="15" name="Step text 4"/>
          <p:cNvSpPr txBox="1"/>
          <p:nvPr/>
        </p:nvSpPr>
        <p:spPr>
          <a:xfrm>
            <a:off x="2240280" y="5340096"/>
            <a:ext cx="5166360" cy="1051560"/>
          </a:xfrm>
          <a:prstGeom prst="rect">
            <a:avLst/>
          </a:prstGeom>
          <a:noFill/>
          <a:ln/>
        </p:spPr>
        <p:txBody>
          <a:bodyPr wrap="square" lIns="0" tIns="0" rIns="0" bIns="0" rtlCol="0" anchor="ctr"/>
          <a:lstStyle/>
          <a:p>
            <a:pPr indent="0" marL="0">
              <a:buNone/>
            </a:pPr>
            <a:r>
              <a:rPr lang="en-US" sz="1400" dirty="0">
                <a:solidFill>
                  <a:schemeClr val="tx1"/>
                </a:solidFill>
              </a:rPr>
              <a:t>Present the revised timeline and asks at the Steering Committee.</a:t>
            </a:r>
            <a:endParaRPr lang="en-US" sz="1400" dirty="0"/>
          </a:p>
        </p:txBody>
      </p:sp>
      <p:sp>
        <p:nvSpPr>
          <p:cNvPr id="16" name="Right panel"/>
          <p:cNvSpPr/>
          <p:nvPr/>
        </p:nvSpPr>
        <p:spPr>
          <a:xfrm>
            <a:off x="8001000" y="1188720"/>
            <a:ext cx="3639312" cy="5120640"/>
          </a:xfrm>
          <a:prstGeom prst="roundRect">
            <a:avLst>
              <a:gd name="adj" fmla="val 3015"/>
            </a:avLst>
          </a:prstGeom>
          <a:solidFill>
            <a:schemeClr val="accent6"/>
          </a:solidFill>
          <a:ln w="12700">
            <a:solidFill>
              <a:schemeClr val="accent6"/>
            </a:solidFill>
            <a:prstDash val="solid"/>
          </a:ln>
        </p:spPr>
      </p:sp>
      <p:sp>
        <p:nvSpPr>
          <p:cNvPr id="17" name="Asks and risks"/>
          <p:cNvSpPr txBox="1"/>
          <p:nvPr/>
        </p:nvSpPr>
        <p:spPr>
          <a:xfrm>
            <a:off x="8183880" y="1325880"/>
            <a:ext cx="3273552" cy="48463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Asks of the SCo</a:t>
            </a:r>
            <a:endParaRPr lang="en-US" sz="1600" dirty="0"/>
          </a:p>
          <a:p>
            <a:pPr marL="342900" indent="-342900">
              <a:spcAft>
                <a:spcPts val="400"/>
              </a:spcAft>
              <a:buSzPct val="100000"/>
              <a:buFont typeface="+mj-lt"/>
              <a:buAutoNum type="arabicPeriod" startAt="1"/>
            </a:pPr>
            <a:r>
              <a:rPr lang="en-US" sz="1200" dirty="0">
                <a:solidFill>
                  <a:schemeClr val="tx1"/>
                </a:solidFill>
              </a:rPr>
              <a:t>Endorse the three-workstream structure and revised timeline; reset the Stage 3 gates (pilot report, handover, showcase)</a:t>
            </a:r>
            <a:endParaRPr lang="en-US" sz="1600" dirty="0"/>
          </a:p>
          <a:p>
            <a:pPr marL="342900" indent="-342900">
              <a:spcAft>
                <a:spcPts val="400"/>
              </a:spcAft>
              <a:buSzPct val="100000"/>
              <a:buFont typeface="+mj-lt"/>
              <a:buAutoNum type="arabicPeriod" startAt="1"/>
            </a:pPr>
            <a:r>
              <a:rPr lang="en-US" sz="1200" dirty="0">
                <a:solidFill>
                  <a:schemeClr val="tx1"/>
                </a:solidFill>
              </a:rPr>
              <a:t>Sponsor support to expedite PETRONAS management approval of the ruler release</a:t>
            </a:r>
            <a:endParaRPr lang="en-US" sz="1600" dirty="0"/>
          </a:p>
          <a:p>
            <a:pPr marL="342900" indent="-342900">
              <a:spcAft>
                <a:spcPts val="400"/>
              </a:spcAft>
              <a:buSzPct val="100000"/>
              <a:buFont typeface="+mj-lt"/>
              <a:buAutoNum type="arabicPeriod" startAt="1"/>
            </a:pPr>
            <a:r>
              <a:rPr lang="en-US" sz="1200" dirty="0">
                <a:solidFill>
                  <a:schemeClr val="tx1"/>
                </a:solidFill>
              </a:rPr>
              <a:t>Confirm the pilot group and a named Electrical internal focal</a:t>
            </a:r>
            <a:endParaRPr lang="en-US" sz="1600" dirty="0"/>
          </a:p>
          <a:p>
            <a:pPr marL="342900" indent="-342900">
              <a:spcAft>
                <a:spcPts val="1200"/>
              </a:spcAft>
              <a:buSzPct val="100000"/>
              <a:buFont typeface="+mj-lt"/>
              <a:buAutoNum type="arabicPeriod" startAt="1"/>
            </a:pPr>
            <a:r>
              <a:rPr lang="en-US" sz="1200" dirty="0">
                <a:solidFill>
                  <a:schemeClr val="tx1"/>
                </a:solidFill>
              </a:rPr>
              <a:t>Agree a fallback if the full ruler is not released: proceed with the shared portion, or consider consultancy support</a:t>
            </a:r>
            <a:endParaRPr lang="en-US" sz="1600" dirty="0"/>
          </a:p>
          <a:p>
            <a:pPr indent="0" marL="0">
              <a:spcAft>
                <a:spcPts val="600"/>
              </a:spcAft>
              <a:buNone/>
            </a:pPr>
            <a:r>
              <a:rPr lang="en-US" sz="1600" b="1" dirty="0">
                <a:solidFill>
                  <a:schemeClr val="tx1"/>
                </a:solidFill>
              </a:rPr>
              <a:t>Key risks and mitigation</a:t>
            </a:r>
            <a:endParaRPr lang="en-US" sz="1600" dirty="0"/>
          </a:p>
          <a:p>
            <a:pPr marL="342900" indent="-342900">
              <a:spcAft>
                <a:spcPts val="400"/>
              </a:spcAft>
              <a:buSzPct val="100000"/>
              <a:buChar char="•"/>
            </a:pPr>
            <a:r>
              <a:rPr lang="en-US" sz="1200" dirty="0">
                <a:solidFill>
                  <a:schemeClr val="tx1"/>
                </a:solidFill>
              </a:rPr>
              <a:t>Approval delay slips downstream steps one-for-one: start with the portion already shared</a:t>
            </a:r>
            <a:endParaRPr lang="en-US" sz="1600" dirty="0"/>
          </a:p>
          <a:p>
            <a:pPr marL="342900" indent="-342900">
              <a:spcAft>
                <a:spcPts val="400"/>
              </a:spcAft>
              <a:buSzPct val="100000"/>
              <a:buChar char="•"/>
            </a:pPr>
            <a:r>
              <a:rPr lang="en-US" sz="1200" dirty="0">
                <a:solidFill>
                  <a:schemeClr val="tx1"/>
                </a:solidFill>
              </a:rPr>
              <a:t>Workstreams drift apart: JCP/JF alignment checked at every update, starting 15 Oct</a:t>
            </a:r>
            <a:endParaRPr lang="en-US" sz="1600" dirty="0"/>
          </a:p>
          <a:p>
            <a:pPr marL="342900" indent="-342900">
              <a:spcAft>
                <a:spcPts val="400"/>
              </a:spcAft>
              <a:buSzPct val="100000"/>
              <a:buChar char="•"/>
            </a:pPr>
            <a:r>
              <a:rPr lang="en-US" sz="1200" dirty="0">
                <a:solidFill>
                  <a:schemeClr val="tx1"/>
                </a:solidFill>
              </a:rPr>
              <a:t>Year-end leave overlaps review stage: book PETRONAS specialist sessions by Nov</a:t>
            </a:r>
            <a:endParaRPr lang="en-US" sz="1600" dirty="0"/>
          </a:p>
          <a:p>
            <a:pPr marL="342900" indent="-342900">
              <a:spcAft>
                <a:spcPts val="400"/>
              </a:spcAft>
              <a:buSzPct val="100000"/>
              <a:buChar char="•"/>
            </a:pPr>
            <a:r>
              <a:rPr lang="en-US" sz="1200" dirty="0">
                <a:solidFill>
                  <a:schemeClr val="tx1"/>
                </a:solidFill>
              </a:rPr>
              <a:t>Access for staff outside the PETRONAS email domain: agree route with ICT early</a:t>
            </a:r>
            <a:endParaRPr lang="en-US" sz="1600" dirty="0"/>
          </a:p>
        </p:txBody>
      </p:sp>
    </p:spTree>
  </p:cSld>
  <p:clrMapOvr>
    <a:masterClrMapping/>
  </p:clrMapOvr>
</p:sld>
</file>

<file path=ppt/theme/theme1.xml><?xml version="1.0" encoding="utf-8"?>
<a:theme xmlns:a="http://schemas.openxmlformats.org/drawingml/2006/main" name="Pod4 Pilot">
  <a:themeElements>
    <a:clrScheme name="Pod4 Pilot">
      <a:dk1>
        <a:srgbClr val="262626"/>
      </a:dk1>
      <a:lt1>
        <a:srgbClr val="FFFFFF"/>
      </a:lt1>
      <a:dk2>
        <a:srgbClr val="595959"/>
      </a:dk2>
      <a:lt2>
        <a:srgbClr val="F2F2F2"/>
      </a:lt2>
      <a:accent1>
        <a:srgbClr val="00B4D8"/>
      </a:accent1>
      <a:accent2>
        <a:srgbClr val="00A651"/>
      </a:accent2>
      <a:accent3>
        <a:srgbClr val="7B4FBF"/>
      </a:accent3>
      <a:accent4>
        <a:srgbClr val="7F7F7F"/>
      </a:accent4>
      <a:accent5>
        <a:srgbClr val="F5A623"/>
      </a:accent5>
      <a:accent6>
        <a:srgbClr val="E3F6FA"/>
      </a:accent6>
      <a:hlink>
        <a:srgbClr val="0070C0"/>
      </a:hlink>
      <a:folHlink>
        <a:srgbClr val="7F7F7F"/>
      </a:folHlink>
    </a:clrScheme>
    <a:fontScheme name="Pod4 Pilo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Electrical Competency Ruler Pilot - Workstreams and Timeline</dc:title>
  <dc:subject>PptxGenJS Presentation</dc:subject>
  <dc:creator>PptxGenJS</dc:creator>
  <cp:lastModifiedBy>PptxGenJS</cp:lastModifiedBy>
  <cp:revision>1</cp:revision>
  <dcterms:created xsi:type="dcterms:W3CDTF">2026-10-08T06:04:37Z</dcterms:created>
  <dcterms:modified xsi:type="dcterms:W3CDTF">2026-10-08T06:04:37Z</dcterms:modified>
</cp:coreProperties>
</file>