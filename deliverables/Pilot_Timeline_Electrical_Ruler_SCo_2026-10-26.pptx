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lot timeline" id="{1e3afaf4-022f-3dbd-c432-bd3e7842f391}">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Revised from the earlier plan, which showed the customisation step as completed. In practice only an initial discussion with the PETRONAS Principal (Electrical) has happened: PETRONAS shared part of its broad-based electrical ruler and the rest is awaiting PETRONAS management approval. Dates after Step 1 are proposals and shift one-for-one with the approval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Gantt is built from proposed windows. Dates move with the PETRONAS approval date in Step 1. The enabling row (identify and brief pilot group) runs in parallel with Steps 2 and 3 so the group is ready when the ruler is finalised. The earlier lifecycle plan had pilot report approval at an estimated 27 Oct, handover at 18 Nov and the One Gentari showcase on 2 Dec; these need to be reset against this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8580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Electrical Competency Ruler Pilot: Revised Timeline</a:t>
            </a:r>
            <a:endParaRPr lang="en-US" sz="3000" dirty="0"/>
          </a:p>
        </p:txBody>
      </p:sp>
      <p:sp>
        <p:nvSpPr>
          <p:cNvPr id="3" name="Subtitle"/>
          <p:cNvSpPr txBox="1"/>
          <p:nvPr/>
        </p:nvSpPr>
        <p:spPr>
          <a:xfrm>
            <a:off x="548640" y="1024128"/>
            <a:ext cx="11091672" cy="320040"/>
          </a:xfrm>
          <a:prstGeom prst="rect">
            <a:avLst/>
          </a:prstGeom>
          <a:noFill/>
          <a:ln/>
        </p:spPr>
        <p:txBody>
          <a:bodyPr wrap="square" lIns="0" tIns="0" rIns="0" bIns="0" rtlCol="0" anchor="ctr"/>
          <a:lstStyle/>
          <a:p>
            <a:pPr indent="0" marL="0">
              <a:buNone/>
            </a:pPr>
            <a:r>
              <a:rPr lang="en-US" sz="1400" dirty="0">
                <a:solidFill>
                  <a:schemeClr val="tx2"/>
                </a:solidFill>
              </a:rPr>
              <a:t>Draft for Steering Committee, 26 Oct 2026  |  Pod 4: Capability &amp; Talent Strength</a:t>
            </a:r>
            <a:endParaRPr lang="en-US" sz="1400" dirty="0"/>
          </a:p>
        </p:txBody>
      </p:sp>
      <p:sp>
        <p:nvSpPr>
          <p:cNvPr id="4" name="Card 1"/>
          <p:cNvSpPr/>
          <p:nvPr/>
        </p:nvSpPr>
        <p:spPr>
          <a:xfrm>
            <a:off x="554584" y="1691640"/>
            <a:ext cx="1664208" cy="2834640"/>
          </a:xfrm>
          <a:prstGeom prst="roundRect">
            <a:avLst>
              <a:gd name="adj" fmla="val 9890"/>
            </a:avLst>
          </a:prstGeom>
          <a:solidFill>
            <a:schemeClr val="bg1"/>
          </a:solidFill>
          <a:ln w="19050">
            <a:solidFill>
              <a:schemeClr val="accent1"/>
            </a:solidFill>
            <a:prstDash val="solid"/>
          </a:ln>
        </p:spPr>
      </p:sp>
      <p:sp>
        <p:nvSpPr>
          <p:cNvPr id="5" name="Card 1 text"/>
          <p:cNvSpPr txBox="1"/>
          <p:nvPr/>
        </p:nvSpPr>
        <p:spPr>
          <a:xfrm>
            <a:off x="664312" y="1828800"/>
            <a:ext cx="1444752" cy="2057400"/>
          </a:xfrm>
          <a:prstGeom prst="rect">
            <a:avLst/>
          </a:prstGeom>
          <a:noFill/>
          <a:ln/>
        </p:spPr>
        <p:txBody>
          <a:bodyPr wrap="square" lIns="0" tIns="0" rIns="0" bIns="0" rtlCol="0" anchor="t"/>
          <a:lstStyle/>
          <a:p>
            <a:pPr indent="0" marL="0">
              <a:spcAft>
                <a:spcPts val="400"/>
              </a:spcAft>
              <a:buNone/>
            </a:pPr>
            <a:r>
              <a:rPr lang="en-US" sz="1000" b="1" dirty="0">
                <a:solidFill>
                  <a:schemeClr val="accent1"/>
                </a:solidFill>
              </a:rPr>
              <a:t>STEP 1</a:t>
            </a:r>
            <a:endParaRPr lang="en-US" sz="1000" dirty="0"/>
          </a:p>
          <a:p>
            <a:pPr indent="0" marL="0">
              <a:spcAft>
                <a:spcPts val="600"/>
              </a:spcAft>
              <a:buNone/>
            </a:pPr>
            <a:r>
              <a:rPr lang="en-US" sz="1300" b="1" dirty="0">
                <a:solidFill>
                  <a:schemeClr val="tx1"/>
                </a:solidFill>
              </a:rPr>
              <a:t>Secure PETRONAS Electrical ruler</a:t>
            </a:r>
            <a:endParaRPr lang="en-US" sz="1000" dirty="0"/>
          </a:p>
          <a:p>
            <a:pPr indent="0" marL="0">
              <a:buNone/>
            </a:pPr>
            <a:r>
              <a:rPr lang="en-US" sz="1100" dirty="0">
                <a:solidFill>
                  <a:schemeClr val="tx2"/>
                </a:solidFill>
              </a:rPr>
              <a:t>Initial discussion held. Partial base ruler shared; full release pending PETRONAS management approval.</a:t>
            </a:r>
            <a:endParaRPr lang="en-US" sz="1000" dirty="0"/>
          </a:p>
        </p:txBody>
      </p:sp>
      <p:sp>
        <p:nvSpPr>
          <p:cNvPr id="6" name="Status 1"/>
          <p:cNvSpPr/>
          <p:nvPr/>
        </p:nvSpPr>
        <p:spPr>
          <a:xfrm>
            <a:off x="883768" y="4069080"/>
            <a:ext cx="1005840" cy="274320"/>
          </a:xfrm>
          <a:prstGeom prst="roundRect">
            <a:avLst>
              <a:gd name="adj" fmla="val 46667"/>
            </a:avLst>
          </a:prstGeom>
          <a:solidFill>
            <a:schemeClr val="accent3"/>
          </a:solidFill>
          <a:ln/>
        </p:spPr>
        <p:txBody>
          <a:bodyPr wrap="square" lIns="0" tIns="0" rIns="0" bIns="0" rtlCol="0" anchor="ctr"/>
          <a:lstStyle/>
          <a:p>
            <a:pPr algn="ctr" indent="0" marL="0">
              <a:buNone/>
            </a:pPr>
            <a:r>
              <a:rPr lang="en-US" sz="1100" b="1" dirty="0">
                <a:solidFill>
                  <a:schemeClr val="tx1"/>
                </a:solidFill>
              </a:rPr>
              <a:t>Ongoing</a:t>
            </a:r>
            <a:endParaRPr lang="en-US" sz="1100" dirty="0"/>
          </a:p>
        </p:txBody>
      </p:sp>
      <p:sp>
        <p:nvSpPr>
          <p:cNvPr id="7" name="Date 1"/>
          <p:cNvSpPr txBox="1"/>
          <p:nvPr/>
        </p:nvSpPr>
        <p:spPr>
          <a:xfrm>
            <a:off x="499720" y="4663440"/>
            <a:ext cx="1773936" cy="457200"/>
          </a:xfrm>
          <a:prstGeom prst="rect">
            <a:avLst/>
          </a:prstGeom>
          <a:noFill/>
          <a:ln/>
        </p:spPr>
        <p:txBody>
          <a:bodyPr wrap="square" lIns="0" tIns="0" rIns="0" bIns="0" rtlCol="0" anchor="t"/>
          <a:lstStyle/>
          <a:p>
            <a:pPr algn="ctr" indent="0" marL="0">
              <a:buNone/>
            </a:pPr>
            <a:r>
              <a:rPr lang="en-US" sz="1200" b="1" dirty="0">
                <a:solidFill>
                  <a:schemeClr val="tx1"/>
                </a:solidFill>
                <a:highlight>
                  <a:srgbClr val="FFF200"/>
                </a:highlight>
              </a:rPr>
              <a:t>Now – 6 Nov</a:t>
            </a:r>
            <a:endParaRPr lang="en-US" sz="1200" dirty="0"/>
          </a:p>
        </p:txBody>
      </p:sp>
      <p:sp>
        <p:nvSpPr>
          <p:cNvPr id="8" name="Arrow 1"/>
          <p:cNvSpPr/>
          <p:nvPr/>
        </p:nvSpPr>
        <p:spPr>
          <a:xfrm>
            <a:off x="2246224" y="3017520"/>
            <a:ext cx="164592" cy="182880"/>
          </a:xfrm>
          <a:prstGeom prst="rightArrow">
            <a:avLst/>
          </a:prstGeom>
          <a:solidFill>
            <a:schemeClr val="accent4"/>
          </a:solidFill>
          <a:ln w="12700">
            <a:solidFill>
              <a:schemeClr val="accent4"/>
            </a:solidFill>
            <a:prstDash val="solid"/>
          </a:ln>
        </p:spPr>
      </p:sp>
      <p:sp>
        <p:nvSpPr>
          <p:cNvPr id="9" name="Card 2"/>
          <p:cNvSpPr/>
          <p:nvPr/>
        </p:nvSpPr>
        <p:spPr>
          <a:xfrm>
            <a:off x="2438248" y="1691640"/>
            <a:ext cx="1664208" cy="2834640"/>
          </a:xfrm>
          <a:prstGeom prst="roundRect">
            <a:avLst>
              <a:gd name="adj" fmla="val 9890"/>
            </a:avLst>
          </a:prstGeom>
          <a:solidFill>
            <a:schemeClr val="bg1"/>
          </a:solidFill>
          <a:ln w="19050">
            <a:solidFill>
              <a:schemeClr val="accent1"/>
            </a:solidFill>
            <a:prstDash val="solid"/>
          </a:ln>
        </p:spPr>
      </p:sp>
      <p:sp>
        <p:nvSpPr>
          <p:cNvPr id="10" name="Card 2 text"/>
          <p:cNvSpPr txBox="1"/>
          <p:nvPr/>
        </p:nvSpPr>
        <p:spPr>
          <a:xfrm>
            <a:off x="2547976" y="1828800"/>
            <a:ext cx="1444752" cy="2057400"/>
          </a:xfrm>
          <a:prstGeom prst="rect">
            <a:avLst/>
          </a:prstGeom>
          <a:noFill/>
          <a:ln/>
        </p:spPr>
        <p:txBody>
          <a:bodyPr wrap="square" lIns="0" tIns="0" rIns="0" bIns="0" rtlCol="0" anchor="t"/>
          <a:lstStyle/>
          <a:p>
            <a:pPr indent="0" marL="0">
              <a:spcAft>
                <a:spcPts val="400"/>
              </a:spcAft>
              <a:buNone/>
            </a:pPr>
            <a:r>
              <a:rPr lang="en-US" sz="1000" b="1" dirty="0">
                <a:solidFill>
                  <a:schemeClr val="accent1"/>
                </a:solidFill>
              </a:rPr>
              <a:t>STEP 2</a:t>
            </a:r>
            <a:endParaRPr lang="en-US" sz="1000" dirty="0"/>
          </a:p>
          <a:p>
            <a:pPr indent="0" marL="0">
              <a:spcAft>
                <a:spcPts val="600"/>
              </a:spcAft>
              <a:buNone/>
            </a:pPr>
            <a:r>
              <a:rPr lang="en-US" sz="1300" b="1" dirty="0">
                <a:solidFill>
                  <a:schemeClr val="tx1"/>
                </a:solidFill>
              </a:rPr>
              <a:t>Customise ruler to Gentari's needs</a:t>
            </a:r>
            <a:endParaRPr lang="en-US" sz="1000" dirty="0"/>
          </a:p>
          <a:p>
            <a:pPr indent="0" marL="0">
              <a:buNone/>
            </a:pPr>
            <a:r>
              <a:rPr lang="en-US" sz="1100" dirty="0">
                <a:solidFill>
                  <a:schemeClr val="tx2"/>
                </a:solidFill>
              </a:rPr>
              <a:t>Map the ruler to Gentari electrical roles, levels and business requirements.</a:t>
            </a:r>
            <a:endParaRPr lang="en-US" sz="1000" dirty="0"/>
          </a:p>
        </p:txBody>
      </p:sp>
      <p:sp>
        <p:nvSpPr>
          <p:cNvPr id="11" name="Status 2"/>
          <p:cNvSpPr/>
          <p:nvPr/>
        </p:nvSpPr>
        <p:spPr>
          <a:xfrm>
            <a:off x="2767432" y="4069080"/>
            <a:ext cx="1005840" cy="274320"/>
          </a:xfrm>
          <a:prstGeom prst="roundRect">
            <a:avLst>
              <a:gd name="adj" fmla="val 46667"/>
            </a:avLst>
          </a:prstGeom>
          <a:solidFill>
            <a:schemeClr val="bg2"/>
          </a:solidFill>
          <a:ln/>
        </p:spPr>
        <p:txBody>
          <a:bodyPr wrap="square" lIns="0" tIns="0" rIns="0" bIns="0" rtlCol="0" anchor="ctr"/>
          <a:lstStyle/>
          <a:p>
            <a:pPr algn="ctr" indent="0" marL="0">
              <a:buNone/>
            </a:pPr>
            <a:r>
              <a:rPr lang="en-US" sz="1100" b="1" dirty="0">
                <a:solidFill>
                  <a:schemeClr val="accent4"/>
                </a:solidFill>
              </a:rPr>
              <a:t>Upcoming</a:t>
            </a:r>
            <a:endParaRPr lang="en-US" sz="1100" dirty="0"/>
          </a:p>
        </p:txBody>
      </p:sp>
      <p:sp>
        <p:nvSpPr>
          <p:cNvPr id="12" name="Date 2"/>
          <p:cNvSpPr txBox="1"/>
          <p:nvPr/>
        </p:nvSpPr>
        <p:spPr>
          <a:xfrm>
            <a:off x="2383384" y="4663440"/>
            <a:ext cx="1773936" cy="457200"/>
          </a:xfrm>
          <a:prstGeom prst="rect">
            <a:avLst/>
          </a:prstGeom>
          <a:noFill/>
          <a:ln/>
        </p:spPr>
        <p:txBody>
          <a:bodyPr wrap="square" lIns="0" tIns="0" rIns="0" bIns="0" rtlCol="0" anchor="t"/>
          <a:lstStyle/>
          <a:p>
            <a:pPr algn="ctr" indent="0" marL="0">
              <a:buNone/>
            </a:pPr>
            <a:r>
              <a:rPr lang="en-US" sz="1200" b="1" dirty="0">
                <a:solidFill>
                  <a:schemeClr val="tx1"/>
                </a:solidFill>
                <a:highlight>
                  <a:srgbClr val="FFF200"/>
                </a:highlight>
              </a:rPr>
              <a:t>9 Nov – 4 Dec</a:t>
            </a:r>
            <a:endParaRPr lang="en-US" sz="1200" dirty="0"/>
          </a:p>
        </p:txBody>
      </p:sp>
      <p:sp>
        <p:nvSpPr>
          <p:cNvPr id="13" name="Arrow 2"/>
          <p:cNvSpPr/>
          <p:nvPr/>
        </p:nvSpPr>
        <p:spPr>
          <a:xfrm>
            <a:off x="4129888" y="3017520"/>
            <a:ext cx="164592" cy="182880"/>
          </a:xfrm>
          <a:prstGeom prst="rightArrow">
            <a:avLst/>
          </a:prstGeom>
          <a:solidFill>
            <a:schemeClr val="accent4"/>
          </a:solidFill>
          <a:ln w="12700">
            <a:solidFill>
              <a:schemeClr val="accent4"/>
            </a:solidFill>
            <a:prstDash val="solid"/>
          </a:ln>
        </p:spPr>
      </p:sp>
      <p:sp>
        <p:nvSpPr>
          <p:cNvPr id="14" name="Card 3"/>
          <p:cNvSpPr/>
          <p:nvPr/>
        </p:nvSpPr>
        <p:spPr>
          <a:xfrm>
            <a:off x="4321912" y="1691640"/>
            <a:ext cx="1664208" cy="2834640"/>
          </a:xfrm>
          <a:prstGeom prst="roundRect">
            <a:avLst>
              <a:gd name="adj" fmla="val 9890"/>
            </a:avLst>
          </a:prstGeom>
          <a:solidFill>
            <a:schemeClr val="bg1"/>
          </a:solidFill>
          <a:ln w="19050">
            <a:solidFill>
              <a:schemeClr val="accent1"/>
            </a:solidFill>
            <a:prstDash val="solid"/>
          </a:ln>
        </p:spPr>
      </p:sp>
      <p:sp>
        <p:nvSpPr>
          <p:cNvPr id="15" name="Card 3 text"/>
          <p:cNvSpPr txBox="1"/>
          <p:nvPr/>
        </p:nvSpPr>
        <p:spPr>
          <a:xfrm>
            <a:off x="4431640" y="1828800"/>
            <a:ext cx="1444752" cy="2057400"/>
          </a:xfrm>
          <a:prstGeom prst="rect">
            <a:avLst/>
          </a:prstGeom>
          <a:noFill/>
          <a:ln/>
        </p:spPr>
        <p:txBody>
          <a:bodyPr wrap="square" lIns="0" tIns="0" rIns="0" bIns="0" rtlCol="0" anchor="t"/>
          <a:lstStyle/>
          <a:p>
            <a:pPr indent="0" marL="0">
              <a:spcAft>
                <a:spcPts val="400"/>
              </a:spcAft>
              <a:buNone/>
            </a:pPr>
            <a:r>
              <a:rPr lang="en-US" sz="1000" b="1" dirty="0">
                <a:solidFill>
                  <a:schemeClr val="accent1"/>
                </a:solidFill>
              </a:rPr>
              <a:t>STEP 3</a:t>
            </a:r>
            <a:endParaRPr lang="en-US" sz="1000" dirty="0"/>
          </a:p>
          <a:p>
            <a:pPr indent="0" marL="0">
              <a:spcAft>
                <a:spcPts val="600"/>
              </a:spcAft>
              <a:buNone/>
            </a:pPr>
            <a:r>
              <a:rPr lang="en-US" sz="1300" b="1" dirty="0">
                <a:solidFill>
                  <a:schemeClr val="tx1"/>
                </a:solidFill>
              </a:rPr>
              <a:t>Review &amp; refine the customised ruler</a:t>
            </a:r>
            <a:endParaRPr lang="en-US" sz="1000" dirty="0"/>
          </a:p>
          <a:p>
            <a:pPr indent="0" marL="0">
              <a:buNone/>
            </a:pPr>
            <a:r>
              <a:rPr lang="en-US" sz="1100" dirty="0">
                <a:solidFill>
                  <a:schemeClr val="tx2"/>
                </a:solidFill>
              </a:rPr>
              <a:t>With PETRONAS specialists and internal focal; finalise the pilot version.</a:t>
            </a:r>
            <a:endParaRPr lang="en-US" sz="1000" dirty="0"/>
          </a:p>
        </p:txBody>
      </p:sp>
      <p:sp>
        <p:nvSpPr>
          <p:cNvPr id="16" name="Status 3"/>
          <p:cNvSpPr/>
          <p:nvPr/>
        </p:nvSpPr>
        <p:spPr>
          <a:xfrm>
            <a:off x="4651096" y="4069080"/>
            <a:ext cx="1005840" cy="274320"/>
          </a:xfrm>
          <a:prstGeom prst="roundRect">
            <a:avLst>
              <a:gd name="adj" fmla="val 46667"/>
            </a:avLst>
          </a:prstGeom>
          <a:solidFill>
            <a:schemeClr val="bg2"/>
          </a:solidFill>
          <a:ln/>
        </p:spPr>
        <p:txBody>
          <a:bodyPr wrap="square" lIns="0" tIns="0" rIns="0" bIns="0" rtlCol="0" anchor="ctr"/>
          <a:lstStyle/>
          <a:p>
            <a:pPr algn="ctr" indent="0" marL="0">
              <a:buNone/>
            </a:pPr>
            <a:r>
              <a:rPr lang="en-US" sz="1100" b="1" dirty="0">
                <a:solidFill>
                  <a:schemeClr val="accent4"/>
                </a:solidFill>
              </a:rPr>
              <a:t>Upcoming</a:t>
            </a:r>
            <a:endParaRPr lang="en-US" sz="1100" dirty="0"/>
          </a:p>
        </p:txBody>
      </p:sp>
      <p:sp>
        <p:nvSpPr>
          <p:cNvPr id="17" name="Date 3"/>
          <p:cNvSpPr txBox="1"/>
          <p:nvPr/>
        </p:nvSpPr>
        <p:spPr>
          <a:xfrm>
            <a:off x="4267048" y="4663440"/>
            <a:ext cx="1773936" cy="457200"/>
          </a:xfrm>
          <a:prstGeom prst="rect">
            <a:avLst/>
          </a:prstGeom>
          <a:noFill/>
          <a:ln/>
        </p:spPr>
        <p:txBody>
          <a:bodyPr wrap="square" lIns="0" tIns="0" rIns="0" bIns="0" rtlCol="0" anchor="t"/>
          <a:lstStyle/>
          <a:p>
            <a:pPr algn="ctr" indent="0" marL="0">
              <a:buNone/>
            </a:pPr>
            <a:r>
              <a:rPr lang="en-US" sz="1200" b="1" dirty="0">
                <a:solidFill>
                  <a:schemeClr val="tx1"/>
                </a:solidFill>
                <a:highlight>
                  <a:srgbClr val="FFF200"/>
                </a:highlight>
              </a:rPr>
              <a:t>7 Dec – 15 Jan</a:t>
            </a:r>
            <a:endParaRPr lang="en-US" sz="1200" dirty="0"/>
          </a:p>
        </p:txBody>
      </p:sp>
      <p:sp>
        <p:nvSpPr>
          <p:cNvPr id="18" name="Arrow 3"/>
          <p:cNvSpPr/>
          <p:nvPr/>
        </p:nvSpPr>
        <p:spPr>
          <a:xfrm>
            <a:off x="6013552" y="3017520"/>
            <a:ext cx="164592" cy="182880"/>
          </a:xfrm>
          <a:prstGeom prst="rightArrow">
            <a:avLst/>
          </a:prstGeom>
          <a:solidFill>
            <a:schemeClr val="accent4"/>
          </a:solidFill>
          <a:ln w="12700">
            <a:solidFill>
              <a:schemeClr val="accent4"/>
            </a:solidFill>
            <a:prstDash val="solid"/>
          </a:ln>
        </p:spPr>
      </p:sp>
      <p:sp>
        <p:nvSpPr>
          <p:cNvPr id="19" name="Card 4"/>
          <p:cNvSpPr/>
          <p:nvPr/>
        </p:nvSpPr>
        <p:spPr>
          <a:xfrm>
            <a:off x="6205576" y="1691640"/>
            <a:ext cx="1664208" cy="2834640"/>
          </a:xfrm>
          <a:prstGeom prst="roundRect">
            <a:avLst>
              <a:gd name="adj" fmla="val 9890"/>
            </a:avLst>
          </a:prstGeom>
          <a:solidFill>
            <a:schemeClr val="bg1"/>
          </a:solidFill>
          <a:ln w="19050">
            <a:solidFill>
              <a:schemeClr val="accent1"/>
            </a:solidFill>
            <a:prstDash val="solid"/>
          </a:ln>
        </p:spPr>
      </p:sp>
      <p:sp>
        <p:nvSpPr>
          <p:cNvPr id="20" name="Card 4 text"/>
          <p:cNvSpPr txBox="1"/>
          <p:nvPr/>
        </p:nvSpPr>
        <p:spPr>
          <a:xfrm>
            <a:off x="6315304" y="1828800"/>
            <a:ext cx="1444752" cy="2057400"/>
          </a:xfrm>
          <a:prstGeom prst="rect">
            <a:avLst/>
          </a:prstGeom>
          <a:noFill/>
          <a:ln/>
        </p:spPr>
        <p:txBody>
          <a:bodyPr wrap="square" lIns="0" tIns="0" rIns="0" bIns="0" rtlCol="0" anchor="t"/>
          <a:lstStyle/>
          <a:p>
            <a:pPr indent="0" marL="0">
              <a:spcAft>
                <a:spcPts val="400"/>
              </a:spcAft>
              <a:buNone/>
            </a:pPr>
            <a:r>
              <a:rPr lang="en-US" sz="1000" b="1" dirty="0">
                <a:solidFill>
                  <a:schemeClr val="accent1"/>
                </a:solidFill>
              </a:rPr>
              <a:t>STEP 4</a:t>
            </a:r>
            <a:endParaRPr lang="en-US" sz="1000" dirty="0"/>
          </a:p>
          <a:p>
            <a:pPr indent="0" marL="0">
              <a:spcAft>
                <a:spcPts val="600"/>
              </a:spcAft>
              <a:buNone/>
            </a:pPr>
            <a:r>
              <a:rPr lang="en-US" sz="1300" b="1" dirty="0">
                <a:solidFill>
                  <a:schemeClr val="tx1"/>
                </a:solidFill>
              </a:rPr>
              <a:t>Apply ruler to Electrical pilot group</a:t>
            </a:r>
            <a:endParaRPr lang="en-US" sz="1000" dirty="0"/>
          </a:p>
          <a:p>
            <a:pPr indent="0" marL="0">
              <a:buNone/>
            </a:pPr>
            <a:r>
              <a:rPr lang="en-US" sz="1100" dirty="0">
                <a:solidFill>
                  <a:schemeClr val="tx2"/>
                </a:solidFill>
              </a:rPr>
              <a:t>Assess pilot participants and identify capability gaps.</a:t>
            </a:r>
            <a:endParaRPr lang="en-US" sz="1000" dirty="0"/>
          </a:p>
        </p:txBody>
      </p:sp>
      <p:sp>
        <p:nvSpPr>
          <p:cNvPr id="21" name="Status 4"/>
          <p:cNvSpPr/>
          <p:nvPr/>
        </p:nvSpPr>
        <p:spPr>
          <a:xfrm>
            <a:off x="6534760" y="4069080"/>
            <a:ext cx="1005840" cy="274320"/>
          </a:xfrm>
          <a:prstGeom prst="roundRect">
            <a:avLst>
              <a:gd name="adj" fmla="val 46667"/>
            </a:avLst>
          </a:prstGeom>
          <a:solidFill>
            <a:schemeClr val="bg2"/>
          </a:solidFill>
          <a:ln/>
        </p:spPr>
        <p:txBody>
          <a:bodyPr wrap="square" lIns="0" tIns="0" rIns="0" bIns="0" rtlCol="0" anchor="ctr"/>
          <a:lstStyle/>
          <a:p>
            <a:pPr algn="ctr" indent="0" marL="0">
              <a:buNone/>
            </a:pPr>
            <a:r>
              <a:rPr lang="en-US" sz="1100" b="1" dirty="0">
                <a:solidFill>
                  <a:schemeClr val="accent4"/>
                </a:solidFill>
              </a:rPr>
              <a:t>Upcoming</a:t>
            </a:r>
            <a:endParaRPr lang="en-US" sz="1100" dirty="0"/>
          </a:p>
        </p:txBody>
      </p:sp>
      <p:sp>
        <p:nvSpPr>
          <p:cNvPr id="22" name="Date 4"/>
          <p:cNvSpPr txBox="1"/>
          <p:nvPr/>
        </p:nvSpPr>
        <p:spPr>
          <a:xfrm>
            <a:off x="6150712" y="4663440"/>
            <a:ext cx="1773936" cy="457200"/>
          </a:xfrm>
          <a:prstGeom prst="rect">
            <a:avLst/>
          </a:prstGeom>
          <a:noFill/>
          <a:ln/>
        </p:spPr>
        <p:txBody>
          <a:bodyPr wrap="square" lIns="0" tIns="0" rIns="0" bIns="0" rtlCol="0" anchor="t"/>
          <a:lstStyle/>
          <a:p>
            <a:pPr algn="ctr" indent="0" marL="0">
              <a:buNone/>
            </a:pPr>
            <a:r>
              <a:rPr lang="en-US" sz="1200" b="1" dirty="0">
                <a:solidFill>
                  <a:schemeClr val="tx1"/>
                </a:solidFill>
                <a:highlight>
                  <a:srgbClr val="FFF200"/>
                </a:highlight>
              </a:rPr>
              <a:t>18 Jan – 26 Feb</a:t>
            </a:r>
            <a:endParaRPr lang="en-US" sz="1200" dirty="0"/>
          </a:p>
        </p:txBody>
      </p:sp>
      <p:sp>
        <p:nvSpPr>
          <p:cNvPr id="23" name="Arrow 4"/>
          <p:cNvSpPr/>
          <p:nvPr/>
        </p:nvSpPr>
        <p:spPr>
          <a:xfrm>
            <a:off x="7897216" y="3017520"/>
            <a:ext cx="164592" cy="182880"/>
          </a:xfrm>
          <a:prstGeom prst="rightArrow">
            <a:avLst/>
          </a:prstGeom>
          <a:solidFill>
            <a:schemeClr val="accent4"/>
          </a:solidFill>
          <a:ln w="12700">
            <a:solidFill>
              <a:schemeClr val="accent4"/>
            </a:solidFill>
            <a:prstDash val="solid"/>
          </a:ln>
        </p:spPr>
      </p:sp>
      <p:sp>
        <p:nvSpPr>
          <p:cNvPr id="24" name="Card 5"/>
          <p:cNvSpPr/>
          <p:nvPr/>
        </p:nvSpPr>
        <p:spPr>
          <a:xfrm>
            <a:off x="8089240" y="1691640"/>
            <a:ext cx="1664208" cy="2834640"/>
          </a:xfrm>
          <a:prstGeom prst="roundRect">
            <a:avLst>
              <a:gd name="adj" fmla="val 9890"/>
            </a:avLst>
          </a:prstGeom>
          <a:solidFill>
            <a:schemeClr val="bg1"/>
          </a:solidFill>
          <a:ln w="19050">
            <a:solidFill>
              <a:schemeClr val="accent1"/>
            </a:solidFill>
            <a:prstDash val="solid"/>
          </a:ln>
        </p:spPr>
      </p:sp>
      <p:sp>
        <p:nvSpPr>
          <p:cNvPr id="25" name="Card 5 text"/>
          <p:cNvSpPr txBox="1"/>
          <p:nvPr/>
        </p:nvSpPr>
        <p:spPr>
          <a:xfrm>
            <a:off x="8198968" y="1828800"/>
            <a:ext cx="1444752" cy="2057400"/>
          </a:xfrm>
          <a:prstGeom prst="rect">
            <a:avLst/>
          </a:prstGeom>
          <a:noFill/>
          <a:ln/>
        </p:spPr>
        <p:txBody>
          <a:bodyPr wrap="square" lIns="0" tIns="0" rIns="0" bIns="0" rtlCol="0" anchor="t"/>
          <a:lstStyle/>
          <a:p>
            <a:pPr indent="0" marL="0">
              <a:spcAft>
                <a:spcPts val="400"/>
              </a:spcAft>
              <a:buNone/>
            </a:pPr>
            <a:r>
              <a:rPr lang="en-US" sz="1000" b="1" dirty="0">
                <a:solidFill>
                  <a:schemeClr val="accent1"/>
                </a:solidFill>
              </a:rPr>
              <a:t>STEP 5</a:t>
            </a:r>
            <a:endParaRPr lang="en-US" sz="1000" dirty="0"/>
          </a:p>
          <a:p>
            <a:pPr indent="0" marL="0">
              <a:spcAft>
                <a:spcPts val="600"/>
              </a:spcAft>
              <a:buNone/>
            </a:pPr>
            <a:r>
              <a:rPr lang="en-US" sz="1300" b="1" dirty="0">
                <a:solidFill>
                  <a:schemeClr val="tx1"/>
                </a:solidFill>
              </a:rPr>
              <a:t>Link gaps to Individual Development Plans</a:t>
            </a:r>
            <a:endParaRPr lang="en-US" sz="1000" dirty="0"/>
          </a:p>
          <a:p>
            <a:pPr indent="0" marL="0">
              <a:buNone/>
            </a:pPr>
            <a:r>
              <a:rPr lang="en-US" sz="1100" dirty="0">
                <a:solidFill>
                  <a:schemeClr val="tx2"/>
                </a:solidFill>
              </a:rPr>
              <a:t>Translate identified gaps into IDP actions with managers.</a:t>
            </a:r>
            <a:endParaRPr lang="en-US" sz="1000" dirty="0"/>
          </a:p>
        </p:txBody>
      </p:sp>
      <p:sp>
        <p:nvSpPr>
          <p:cNvPr id="26" name="Status 5"/>
          <p:cNvSpPr/>
          <p:nvPr/>
        </p:nvSpPr>
        <p:spPr>
          <a:xfrm>
            <a:off x="8418424" y="4069080"/>
            <a:ext cx="1005840" cy="274320"/>
          </a:xfrm>
          <a:prstGeom prst="roundRect">
            <a:avLst>
              <a:gd name="adj" fmla="val 46667"/>
            </a:avLst>
          </a:prstGeom>
          <a:solidFill>
            <a:schemeClr val="bg2"/>
          </a:solidFill>
          <a:ln/>
        </p:spPr>
        <p:txBody>
          <a:bodyPr wrap="square" lIns="0" tIns="0" rIns="0" bIns="0" rtlCol="0" anchor="ctr"/>
          <a:lstStyle/>
          <a:p>
            <a:pPr algn="ctr" indent="0" marL="0">
              <a:buNone/>
            </a:pPr>
            <a:r>
              <a:rPr lang="en-US" sz="1100" b="1" dirty="0">
                <a:solidFill>
                  <a:schemeClr val="accent4"/>
                </a:solidFill>
              </a:rPr>
              <a:t>Upcoming</a:t>
            </a:r>
            <a:endParaRPr lang="en-US" sz="1100" dirty="0"/>
          </a:p>
        </p:txBody>
      </p:sp>
      <p:sp>
        <p:nvSpPr>
          <p:cNvPr id="27" name="Date 5"/>
          <p:cNvSpPr txBox="1"/>
          <p:nvPr/>
        </p:nvSpPr>
        <p:spPr>
          <a:xfrm>
            <a:off x="8034376" y="4663440"/>
            <a:ext cx="1773936" cy="457200"/>
          </a:xfrm>
          <a:prstGeom prst="rect">
            <a:avLst/>
          </a:prstGeom>
          <a:noFill/>
          <a:ln/>
        </p:spPr>
        <p:txBody>
          <a:bodyPr wrap="square" lIns="0" tIns="0" rIns="0" bIns="0" rtlCol="0" anchor="t"/>
          <a:lstStyle/>
          <a:p>
            <a:pPr algn="ctr" indent="0" marL="0">
              <a:buNone/>
            </a:pPr>
            <a:r>
              <a:rPr lang="en-US" sz="1200" b="1" dirty="0">
                <a:solidFill>
                  <a:schemeClr val="tx1"/>
                </a:solidFill>
                <a:highlight>
                  <a:srgbClr val="FFF200"/>
                </a:highlight>
              </a:rPr>
              <a:t>1 – 26 Mar</a:t>
            </a:r>
            <a:endParaRPr lang="en-US" sz="1200" dirty="0"/>
          </a:p>
        </p:txBody>
      </p:sp>
      <p:sp>
        <p:nvSpPr>
          <p:cNvPr id="28" name="Arrow 5"/>
          <p:cNvSpPr/>
          <p:nvPr/>
        </p:nvSpPr>
        <p:spPr>
          <a:xfrm>
            <a:off x="9780880" y="3017520"/>
            <a:ext cx="164592" cy="182880"/>
          </a:xfrm>
          <a:prstGeom prst="rightArrow">
            <a:avLst/>
          </a:prstGeom>
          <a:solidFill>
            <a:schemeClr val="accent4"/>
          </a:solidFill>
          <a:ln w="12700">
            <a:solidFill>
              <a:schemeClr val="accent4"/>
            </a:solidFill>
            <a:prstDash val="solid"/>
          </a:ln>
        </p:spPr>
      </p:sp>
      <p:sp>
        <p:nvSpPr>
          <p:cNvPr id="29" name="Card 6"/>
          <p:cNvSpPr/>
          <p:nvPr/>
        </p:nvSpPr>
        <p:spPr>
          <a:xfrm>
            <a:off x="9972904" y="1691640"/>
            <a:ext cx="1664208" cy="2834640"/>
          </a:xfrm>
          <a:prstGeom prst="roundRect">
            <a:avLst>
              <a:gd name="adj" fmla="val 9890"/>
            </a:avLst>
          </a:prstGeom>
          <a:solidFill>
            <a:schemeClr val="bg1"/>
          </a:solidFill>
          <a:ln w="19050">
            <a:solidFill>
              <a:schemeClr val="accent1"/>
            </a:solidFill>
            <a:prstDash val="solid"/>
          </a:ln>
        </p:spPr>
      </p:sp>
      <p:sp>
        <p:nvSpPr>
          <p:cNvPr id="30" name="Card 6 text"/>
          <p:cNvSpPr txBox="1"/>
          <p:nvPr/>
        </p:nvSpPr>
        <p:spPr>
          <a:xfrm>
            <a:off x="10082632" y="1828800"/>
            <a:ext cx="1444752" cy="2057400"/>
          </a:xfrm>
          <a:prstGeom prst="rect">
            <a:avLst/>
          </a:prstGeom>
          <a:noFill/>
          <a:ln/>
        </p:spPr>
        <p:txBody>
          <a:bodyPr wrap="square" lIns="0" tIns="0" rIns="0" bIns="0" rtlCol="0" anchor="t"/>
          <a:lstStyle/>
          <a:p>
            <a:pPr indent="0" marL="0">
              <a:spcAft>
                <a:spcPts val="400"/>
              </a:spcAft>
              <a:buNone/>
            </a:pPr>
            <a:r>
              <a:rPr lang="en-US" sz="1000" b="1" dirty="0">
                <a:solidFill>
                  <a:schemeClr val="accent1"/>
                </a:solidFill>
              </a:rPr>
              <a:t>STEP 6</a:t>
            </a:r>
            <a:endParaRPr lang="en-US" sz="1000" dirty="0"/>
          </a:p>
          <a:p>
            <a:pPr indent="0" marL="0">
              <a:spcAft>
                <a:spcPts val="600"/>
              </a:spcAft>
              <a:buNone/>
            </a:pPr>
            <a:r>
              <a:rPr lang="en-US" sz="1300" b="1" dirty="0">
                <a:solidFill>
                  <a:schemeClr val="tx1"/>
                </a:solidFill>
              </a:rPr>
              <a:t>Review pilot outcomes</a:t>
            </a:r>
            <a:endParaRPr lang="en-US" sz="1000" dirty="0"/>
          </a:p>
          <a:p>
            <a:pPr indent="0" marL="0">
              <a:buNone/>
            </a:pPr>
            <a:r>
              <a:rPr lang="en-US" sz="1100" dirty="0">
                <a:solidFill>
                  <a:schemeClr val="tx2"/>
                </a:solidFill>
              </a:rPr>
              <a:t>Pilot report and recommendation to SCo on broader adoption.</a:t>
            </a:r>
            <a:endParaRPr lang="en-US" sz="1000" dirty="0"/>
          </a:p>
        </p:txBody>
      </p:sp>
      <p:sp>
        <p:nvSpPr>
          <p:cNvPr id="31" name="Status 6"/>
          <p:cNvSpPr/>
          <p:nvPr/>
        </p:nvSpPr>
        <p:spPr>
          <a:xfrm>
            <a:off x="10302088" y="4069080"/>
            <a:ext cx="1005840" cy="274320"/>
          </a:xfrm>
          <a:prstGeom prst="roundRect">
            <a:avLst>
              <a:gd name="adj" fmla="val 46667"/>
            </a:avLst>
          </a:prstGeom>
          <a:solidFill>
            <a:schemeClr val="bg2"/>
          </a:solidFill>
          <a:ln/>
        </p:spPr>
        <p:txBody>
          <a:bodyPr wrap="square" lIns="0" tIns="0" rIns="0" bIns="0" rtlCol="0" anchor="ctr"/>
          <a:lstStyle/>
          <a:p>
            <a:pPr algn="ctr" indent="0" marL="0">
              <a:buNone/>
            </a:pPr>
            <a:r>
              <a:rPr lang="en-US" sz="1100" b="1" dirty="0">
                <a:solidFill>
                  <a:schemeClr val="accent4"/>
                </a:solidFill>
              </a:rPr>
              <a:t>Upcoming</a:t>
            </a:r>
            <a:endParaRPr lang="en-US" sz="1100" dirty="0"/>
          </a:p>
        </p:txBody>
      </p:sp>
      <p:sp>
        <p:nvSpPr>
          <p:cNvPr id="32" name="Date 6"/>
          <p:cNvSpPr txBox="1"/>
          <p:nvPr/>
        </p:nvSpPr>
        <p:spPr>
          <a:xfrm>
            <a:off x="9918040" y="4663440"/>
            <a:ext cx="1773936" cy="457200"/>
          </a:xfrm>
          <a:prstGeom prst="rect">
            <a:avLst/>
          </a:prstGeom>
          <a:noFill/>
          <a:ln/>
        </p:spPr>
        <p:txBody>
          <a:bodyPr wrap="square" lIns="0" tIns="0" rIns="0" bIns="0" rtlCol="0" anchor="t"/>
          <a:lstStyle/>
          <a:p>
            <a:pPr algn="ctr" indent="0" marL="0">
              <a:buNone/>
            </a:pPr>
            <a:r>
              <a:rPr lang="en-US" sz="1200" b="1" dirty="0">
                <a:solidFill>
                  <a:schemeClr val="tx1"/>
                </a:solidFill>
                <a:highlight>
                  <a:srgbClr val="FFF200"/>
                </a:highlight>
              </a:rPr>
              <a:t>Apr 2027 (SCo TBC)</a:t>
            </a:r>
            <a:endParaRPr lang="en-US" sz="1200" dirty="0"/>
          </a:p>
        </p:txBody>
      </p:sp>
      <p:sp>
        <p:nvSpPr>
          <p:cNvPr id="33" name="Critical path callout"/>
          <p:cNvSpPr/>
          <p:nvPr/>
        </p:nvSpPr>
        <p:spPr>
          <a:xfrm>
            <a:off x="585216" y="5440680"/>
            <a:ext cx="11018520" cy="731520"/>
          </a:xfrm>
          <a:prstGeom prst="roundRect">
            <a:avLst>
              <a:gd name="adj" fmla="val 12500"/>
            </a:avLst>
          </a:prstGeom>
          <a:solidFill>
            <a:schemeClr val="accent6"/>
          </a:solidFill>
          <a:ln/>
        </p:spPr>
        <p:txBody>
          <a:bodyPr wrap="square" lIns="177800" tIns="177800" rIns="177800" bIns="177800" rtlCol="0" anchor="ctr"/>
          <a:lstStyle/>
          <a:p>
            <a:pPr indent="0" marL="0">
              <a:buNone/>
            </a:pPr>
            <a:r>
              <a:rPr lang="en-US" sz="1400" b="1" dirty="0">
                <a:solidFill>
                  <a:schemeClr val="tx1"/>
                </a:solidFill>
              </a:rPr>
              <a:t>Critical path: </a:t>
            </a:r>
            <a:pPr indent="0" marL="0">
              <a:buNone/>
            </a:pPr>
            <a:r>
              <a:rPr lang="en-US" sz="1400" dirty="0">
                <a:solidFill>
                  <a:schemeClr val="tx1"/>
                </a:solidFill>
              </a:rPr>
              <a:t>Steps 2 to 6 depend on PETRONAS management approval in Step 1. Each week of delay moves every downstream step by a week. Target dates are proposed for SCo discussion.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85800"/>
          </a:xfrm>
          <a:prstGeom prst="rect">
            <a:avLst/>
          </a:prstGeom>
          <a:noFill/>
          <a:ln/>
        </p:spPr>
        <p:txBody>
          <a:bodyPr wrap="square" lIns="0" tIns="0" rIns="0" bIns="0" rtlCol="0" anchor="ctr"/>
          <a:lstStyle/>
          <a:p>
            <a:pPr algn="l" indent="0" marL="0">
              <a:buNone/>
            </a:pPr>
            <a:r>
              <a:rPr lang="en-US" sz="3000" b="1" dirty="0">
                <a:solidFill>
                  <a:schemeClr val="tx1"/>
                </a:solidFill>
                <a:latin typeface="Arial" pitchFamily="34" charset="0"/>
                <a:ea typeface="Arial" pitchFamily="34" charset="-122"/>
                <a:cs typeface="Arial" pitchFamily="34" charset="-120"/>
              </a:rPr>
              <a:t>Pilot runs to Apr 2027, gated by PETRONAS approval</a:t>
            </a:r>
            <a:endParaRPr lang="en-US" sz="3000" dirty="0"/>
          </a:p>
        </p:txBody>
      </p:sp>
      <p:sp>
        <p:nvSpPr>
          <p:cNvPr id="3" name="Month Oct"/>
          <p:cNvSpPr txBox="1"/>
          <p:nvPr/>
        </p:nvSpPr>
        <p:spPr>
          <a:xfrm>
            <a:off x="3063240" y="1234440"/>
            <a:ext cx="661862" cy="320040"/>
          </a:xfrm>
          <a:prstGeom prst="rect">
            <a:avLst/>
          </a:prstGeom>
          <a:solidFill>
            <a:schemeClr val="bg1"/>
          </a:solidFill>
          <a:ln/>
        </p:spPr>
        <p:txBody>
          <a:bodyPr wrap="square" lIns="0" tIns="0" rIns="0" bIns="0" rtlCol="0" anchor="ctr"/>
          <a:lstStyle/>
          <a:p>
            <a:pPr algn="ctr" indent="0" marL="0">
              <a:buNone/>
            </a:pPr>
            <a:r>
              <a:rPr lang="en-US" sz="1100" b="1" dirty="0">
                <a:solidFill>
                  <a:schemeClr val="tx2"/>
                </a:solidFill>
              </a:rPr>
              <a:t>Oct</a:t>
            </a:r>
            <a:endParaRPr lang="en-US" sz="1100" dirty="0"/>
          </a:p>
        </p:txBody>
      </p:sp>
      <p:sp>
        <p:nvSpPr>
          <p:cNvPr id="4" name="Month Nov"/>
          <p:cNvSpPr txBox="1"/>
          <p:nvPr/>
        </p:nvSpPr>
        <p:spPr>
          <a:xfrm>
            <a:off x="3725102" y="1234440"/>
            <a:ext cx="640511" cy="320040"/>
          </a:xfrm>
          <a:prstGeom prst="rect">
            <a:avLst/>
          </a:prstGeom>
          <a:solidFill>
            <a:schemeClr val="bg2"/>
          </a:solidFill>
          <a:ln/>
        </p:spPr>
        <p:txBody>
          <a:bodyPr wrap="square" lIns="0" tIns="0" rIns="0" bIns="0" rtlCol="0" anchor="ctr"/>
          <a:lstStyle/>
          <a:p>
            <a:pPr algn="ctr" indent="0" marL="0">
              <a:buNone/>
            </a:pPr>
            <a:r>
              <a:rPr lang="en-US" sz="1100" b="1" dirty="0">
                <a:solidFill>
                  <a:schemeClr val="tx2"/>
                </a:solidFill>
              </a:rPr>
              <a:t>Nov</a:t>
            </a:r>
            <a:endParaRPr lang="en-US" sz="1100" dirty="0"/>
          </a:p>
        </p:txBody>
      </p:sp>
      <p:sp>
        <p:nvSpPr>
          <p:cNvPr id="5" name="Month Dec"/>
          <p:cNvSpPr txBox="1"/>
          <p:nvPr/>
        </p:nvSpPr>
        <p:spPr>
          <a:xfrm>
            <a:off x="4365613" y="1234440"/>
            <a:ext cx="661862" cy="320040"/>
          </a:xfrm>
          <a:prstGeom prst="rect">
            <a:avLst/>
          </a:prstGeom>
          <a:solidFill>
            <a:schemeClr val="bg1"/>
          </a:solidFill>
          <a:ln/>
        </p:spPr>
        <p:txBody>
          <a:bodyPr wrap="square" lIns="0" tIns="0" rIns="0" bIns="0" rtlCol="0" anchor="ctr"/>
          <a:lstStyle/>
          <a:p>
            <a:pPr algn="ctr" indent="0" marL="0">
              <a:buNone/>
            </a:pPr>
            <a:r>
              <a:rPr lang="en-US" sz="1100" b="1" dirty="0">
                <a:solidFill>
                  <a:schemeClr val="tx2"/>
                </a:solidFill>
              </a:rPr>
              <a:t>Dec</a:t>
            </a:r>
            <a:endParaRPr lang="en-US" sz="1100" dirty="0"/>
          </a:p>
        </p:txBody>
      </p:sp>
      <p:sp>
        <p:nvSpPr>
          <p:cNvPr id="6" name="Month Jan"/>
          <p:cNvSpPr txBox="1"/>
          <p:nvPr/>
        </p:nvSpPr>
        <p:spPr>
          <a:xfrm>
            <a:off x="5027475" y="1234440"/>
            <a:ext cx="661862" cy="320040"/>
          </a:xfrm>
          <a:prstGeom prst="rect">
            <a:avLst/>
          </a:prstGeom>
          <a:solidFill>
            <a:schemeClr val="bg2"/>
          </a:solidFill>
          <a:ln/>
        </p:spPr>
        <p:txBody>
          <a:bodyPr wrap="square" lIns="0" tIns="0" rIns="0" bIns="0" rtlCol="0" anchor="ctr"/>
          <a:lstStyle/>
          <a:p>
            <a:pPr algn="ctr" indent="0" marL="0">
              <a:buNone/>
            </a:pPr>
            <a:r>
              <a:rPr lang="en-US" sz="1100" b="1" dirty="0">
                <a:solidFill>
                  <a:schemeClr val="tx2"/>
                </a:solidFill>
              </a:rPr>
              <a:t>Jan</a:t>
            </a:r>
            <a:endParaRPr lang="en-US" sz="1100" dirty="0"/>
          </a:p>
        </p:txBody>
      </p:sp>
      <p:sp>
        <p:nvSpPr>
          <p:cNvPr id="7" name="Month Feb"/>
          <p:cNvSpPr txBox="1"/>
          <p:nvPr/>
        </p:nvSpPr>
        <p:spPr>
          <a:xfrm>
            <a:off x="5689336" y="1234440"/>
            <a:ext cx="597811" cy="320040"/>
          </a:xfrm>
          <a:prstGeom prst="rect">
            <a:avLst/>
          </a:prstGeom>
          <a:solidFill>
            <a:schemeClr val="bg1"/>
          </a:solidFill>
          <a:ln/>
        </p:spPr>
        <p:txBody>
          <a:bodyPr wrap="square" lIns="0" tIns="0" rIns="0" bIns="0" rtlCol="0" anchor="ctr"/>
          <a:lstStyle/>
          <a:p>
            <a:pPr algn="ctr" indent="0" marL="0">
              <a:buNone/>
            </a:pPr>
            <a:r>
              <a:rPr lang="en-US" sz="1100" b="1" dirty="0">
                <a:solidFill>
                  <a:schemeClr val="tx2"/>
                </a:solidFill>
              </a:rPr>
              <a:t>Feb</a:t>
            </a:r>
            <a:endParaRPr lang="en-US" sz="1100" dirty="0"/>
          </a:p>
        </p:txBody>
      </p:sp>
      <p:sp>
        <p:nvSpPr>
          <p:cNvPr id="8" name="Month Mar"/>
          <p:cNvSpPr txBox="1"/>
          <p:nvPr/>
        </p:nvSpPr>
        <p:spPr>
          <a:xfrm>
            <a:off x="6287147" y="1234440"/>
            <a:ext cx="661862" cy="320040"/>
          </a:xfrm>
          <a:prstGeom prst="rect">
            <a:avLst/>
          </a:prstGeom>
          <a:solidFill>
            <a:schemeClr val="bg2"/>
          </a:solidFill>
          <a:ln/>
        </p:spPr>
        <p:txBody>
          <a:bodyPr wrap="square" lIns="0" tIns="0" rIns="0" bIns="0" rtlCol="0" anchor="ctr"/>
          <a:lstStyle/>
          <a:p>
            <a:pPr algn="ctr" indent="0" marL="0">
              <a:buNone/>
            </a:pPr>
            <a:r>
              <a:rPr lang="en-US" sz="1100" b="1" dirty="0">
                <a:solidFill>
                  <a:schemeClr val="tx2"/>
                </a:solidFill>
              </a:rPr>
              <a:t>Mar</a:t>
            </a:r>
            <a:endParaRPr lang="en-US" sz="1100" dirty="0"/>
          </a:p>
        </p:txBody>
      </p:sp>
      <p:sp>
        <p:nvSpPr>
          <p:cNvPr id="9" name="Month Apr"/>
          <p:cNvSpPr txBox="1"/>
          <p:nvPr/>
        </p:nvSpPr>
        <p:spPr>
          <a:xfrm>
            <a:off x="6949009" y="1234440"/>
            <a:ext cx="640511" cy="320040"/>
          </a:xfrm>
          <a:prstGeom prst="rect">
            <a:avLst/>
          </a:prstGeom>
          <a:solidFill>
            <a:schemeClr val="bg1"/>
          </a:solidFill>
          <a:ln/>
        </p:spPr>
        <p:txBody>
          <a:bodyPr wrap="square" lIns="0" tIns="0" rIns="0" bIns="0" rtlCol="0" anchor="ctr"/>
          <a:lstStyle/>
          <a:p>
            <a:pPr algn="ctr" indent="0" marL="0">
              <a:buNone/>
            </a:pPr>
            <a:r>
              <a:rPr lang="en-US" sz="1100" b="1" dirty="0">
                <a:solidFill>
                  <a:schemeClr val="tx2"/>
                </a:solidFill>
              </a:rPr>
              <a:t>Apr</a:t>
            </a:r>
            <a:endParaRPr lang="en-US" sz="1100" dirty="0"/>
          </a:p>
        </p:txBody>
      </p:sp>
      <p:sp>
        <p:nvSpPr>
          <p:cNvPr id="10" name="Row band 1"/>
          <p:cNvSpPr/>
          <p:nvPr/>
        </p:nvSpPr>
        <p:spPr>
          <a:xfrm>
            <a:off x="548640" y="1645920"/>
            <a:ext cx="7040880" cy="566928"/>
          </a:xfrm>
          <a:prstGeom prst="rect">
            <a:avLst/>
          </a:prstGeom>
          <a:solidFill>
            <a:schemeClr val="bg2">
              <a:alpha val="45000"/>
            </a:schemeClr>
          </a:solidFill>
          <a:ln w="12700">
            <a:solidFill>
              <a:schemeClr val="bg2"/>
            </a:solidFill>
            <a:prstDash val="solid"/>
          </a:ln>
        </p:spPr>
      </p:sp>
      <p:sp>
        <p:nvSpPr>
          <p:cNvPr id="11" name="Row band 3"/>
          <p:cNvSpPr/>
          <p:nvPr/>
        </p:nvSpPr>
        <p:spPr>
          <a:xfrm>
            <a:off x="548640" y="2779776"/>
            <a:ext cx="7040880" cy="566928"/>
          </a:xfrm>
          <a:prstGeom prst="rect">
            <a:avLst/>
          </a:prstGeom>
          <a:solidFill>
            <a:schemeClr val="bg2">
              <a:alpha val="45000"/>
            </a:schemeClr>
          </a:solidFill>
          <a:ln w="12700">
            <a:solidFill>
              <a:schemeClr val="bg2"/>
            </a:solidFill>
            <a:prstDash val="solid"/>
          </a:ln>
        </p:spPr>
      </p:sp>
      <p:sp>
        <p:nvSpPr>
          <p:cNvPr id="12" name="Row band 5"/>
          <p:cNvSpPr/>
          <p:nvPr/>
        </p:nvSpPr>
        <p:spPr>
          <a:xfrm>
            <a:off x="548640" y="3913632"/>
            <a:ext cx="7040880" cy="566928"/>
          </a:xfrm>
          <a:prstGeom prst="rect">
            <a:avLst/>
          </a:prstGeom>
          <a:solidFill>
            <a:schemeClr val="bg2">
              <a:alpha val="45000"/>
            </a:schemeClr>
          </a:solidFill>
          <a:ln w="12700">
            <a:solidFill>
              <a:schemeClr val="bg2"/>
            </a:solidFill>
            <a:prstDash val="solid"/>
          </a:ln>
        </p:spPr>
      </p:sp>
      <p:sp>
        <p:nvSpPr>
          <p:cNvPr id="13" name="Row band 7"/>
          <p:cNvSpPr/>
          <p:nvPr/>
        </p:nvSpPr>
        <p:spPr>
          <a:xfrm>
            <a:off x="548640" y="5047488"/>
            <a:ext cx="7040880" cy="566928"/>
          </a:xfrm>
          <a:prstGeom prst="rect">
            <a:avLst/>
          </a:prstGeom>
          <a:solidFill>
            <a:schemeClr val="bg2">
              <a:alpha val="45000"/>
            </a:schemeClr>
          </a:solidFill>
          <a:ln w="12700">
            <a:solidFill>
              <a:schemeClr val="bg2"/>
            </a:solidFill>
            <a:prstDash val="solid"/>
          </a:ln>
        </p:spPr>
      </p:sp>
      <p:sp>
        <p:nvSpPr>
          <p:cNvPr id="14" name="Row label 1"/>
          <p:cNvSpPr txBox="1"/>
          <p:nvPr/>
        </p:nvSpPr>
        <p:spPr>
          <a:xfrm>
            <a:off x="621792" y="1645920"/>
            <a:ext cx="2468880" cy="566928"/>
          </a:xfrm>
          <a:prstGeom prst="rect">
            <a:avLst/>
          </a:prstGeom>
          <a:noFill/>
          <a:ln/>
        </p:spPr>
        <p:txBody>
          <a:bodyPr wrap="square" lIns="0" tIns="0" rIns="0" bIns="0" rtlCol="0" anchor="ctr"/>
          <a:lstStyle/>
          <a:p>
            <a:pPr indent="0" marL="0">
              <a:buNone/>
            </a:pPr>
            <a:r>
              <a:rPr lang="en-US" sz="1200" b="1" dirty="0">
                <a:solidFill>
                  <a:schemeClr val="tx1"/>
                </a:solidFill>
              </a:rPr>
              <a:t>1  Secure PETRONAS ruler</a:t>
            </a:r>
            <a:endParaRPr lang="en-US" sz="1200" dirty="0"/>
          </a:p>
          <a:p>
            <a:pPr indent="0" marL="0">
              <a:buNone/>
            </a:pPr>
            <a:r>
              <a:rPr lang="en-US" sz="1000" dirty="0">
                <a:solidFill>
                  <a:schemeClr val="tx2"/>
                </a:solidFill>
              </a:rPr>
              <a:t>Now – 6 Nov</a:t>
            </a:r>
            <a:endParaRPr lang="en-US" sz="1200" dirty="0"/>
          </a:p>
        </p:txBody>
      </p:sp>
      <p:sp>
        <p:nvSpPr>
          <p:cNvPr id="15" name="Bar 1 1"/>
          <p:cNvSpPr/>
          <p:nvPr/>
        </p:nvSpPr>
        <p:spPr>
          <a:xfrm>
            <a:off x="3212693" y="1801368"/>
            <a:ext cx="619161" cy="256032"/>
          </a:xfrm>
          <a:prstGeom prst="roundRect">
            <a:avLst>
              <a:gd name="adj" fmla="val 21429"/>
            </a:avLst>
          </a:prstGeom>
          <a:solidFill>
            <a:schemeClr val="accent3"/>
          </a:solidFill>
          <a:ln w="12700">
            <a:solidFill>
              <a:schemeClr val="accent3"/>
            </a:solidFill>
            <a:prstDash val="solid"/>
          </a:ln>
        </p:spPr>
      </p:sp>
      <p:sp>
        <p:nvSpPr>
          <p:cNvPr id="16" name="Row label 2"/>
          <p:cNvSpPr txBox="1"/>
          <p:nvPr/>
        </p:nvSpPr>
        <p:spPr>
          <a:xfrm>
            <a:off x="621792" y="2212848"/>
            <a:ext cx="2468880" cy="566928"/>
          </a:xfrm>
          <a:prstGeom prst="rect">
            <a:avLst/>
          </a:prstGeom>
          <a:noFill/>
          <a:ln/>
        </p:spPr>
        <p:txBody>
          <a:bodyPr wrap="square" lIns="0" tIns="0" rIns="0" bIns="0" rtlCol="0" anchor="ctr"/>
          <a:lstStyle/>
          <a:p>
            <a:pPr indent="0" marL="0">
              <a:buNone/>
            </a:pPr>
            <a:r>
              <a:rPr lang="en-US" sz="1200" b="1" dirty="0">
                <a:solidFill>
                  <a:schemeClr val="tx1"/>
                </a:solidFill>
              </a:rPr>
              <a:t>2  Customise ruler</a:t>
            </a:r>
            <a:endParaRPr lang="en-US" sz="1200" dirty="0"/>
          </a:p>
          <a:p>
            <a:pPr indent="0" marL="0">
              <a:buNone/>
            </a:pPr>
            <a:r>
              <a:rPr lang="en-US" sz="1000" dirty="0">
                <a:solidFill>
                  <a:schemeClr val="tx2"/>
                </a:solidFill>
              </a:rPr>
              <a:t>9 Nov – 4 Dec</a:t>
            </a:r>
            <a:endParaRPr lang="en-US" sz="1200" dirty="0"/>
          </a:p>
        </p:txBody>
      </p:sp>
      <p:sp>
        <p:nvSpPr>
          <p:cNvPr id="17" name="Bar 2 2"/>
          <p:cNvSpPr/>
          <p:nvPr/>
        </p:nvSpPr>
        <p:spPr>
          <a:xfrm>
            <a:off x="3895905" y="2368296"/>
            <a:ext cx="533759" cy="256032"/>
          </a:xfrm>
          <a:prstGeom prst="roundRect">
            <a:avLst>
              <a:gd name="adj" fmla="val 21429"/>
            </a:avLst>
          </a:prstGeom>
          <a:solidFill>
            <a:schemeClr val="accent1"/>
          </a:solidFill>
          <a:ln w="12700">
            <a:solidFill>
              <a:schemeClr val="accent1"/>
            </a:solidFill>
            <a:prstDash val="solid"/>
          </a:ln>
        </p:spPr>
      </p:sp>
      <p:sp>
        <p:nvSpPr>
          <p:cNvPr id="18" name="Row label 3"/>
          <p:cNvSpPr txBox="1"/>
          <p:nvPr/>
        </p:nvSpPr>
        <p:spPr>
          <a:xfrm>
            <a:off x="621792" y="2779776"/>
            <a:ext cx="2468880" cy="566928"/>
          </a:xfrm>
          <a:prstGeom prst="rect">
            <a:avLst/>
          </a:prstGeom>
          <a:noFill/>
          <a:ln/>
        </p:spPr>
        <p:txBody>
          <a:bodyPr wrap="square" lIns="0" tIns="0" rIns="0" bIns="0" rtlCol="0" anchor="ctr"/>
          <a:lstStyle/>
          <a:p>
            <a:pPr indent="0" marL="0">
              <a:buNone/>
            </a:pPr>
            <a:r>
              <a:rPr lang="en-US" sz="1200" b="1" dirty="0">
                <a:solidFill>
                  <a:schemeClr val="tx1"/>
                </a:solidFill>
              </a:rPr>
              <a:t>3  Review &amp; refine</a:t>
            </a:r>
            <a:endParaRPr lang="en-US" sz="1200" dirty="0"/>
          </a:p>
          <a:p>
            <a:pPr indent="0" marL="0">
              <a:buNone/>
            </a:pPr>
            <a:r>
              <a:rPr lang="en-US" sz="1000" dirty="0">
                <a:solidFill>
                  <a:schemeClr val="tx2"/>
                </a:solidFill>
              </a:rPr>
              <a:t>7 Dec – 15 Jan</a:t>
            </a:r>
            <a:endParaRPr lang="en-US" sz="1200" dirty="0"/>
          </a:p>
        </p:txBody>
      </p:sp>
      <p:sp>
        <p:nvSpPr>
          <p:cNvPr id="19" name="Bar 3 3"/>
          <p:cNvSpPr/>
          <p:nvPr/>
        </p:nvSpPr>
        <p:spPr>
          <a:xfrm>
            <a:off x="4493715" y="2935224"/>
            <a:ext cx="832665" cy="256032"/>
          </a:xfrm>
          <a:prstGeom prst="roundRect">
            <a:avLst>
              <a:gd name="adj" fmla="val 21429"/>
            </a:avLst>
          </a:prstGeom>
          <a:solidFill>
            <a:schemeClr val="accent1"/>
          </a:solidFill>
          <a:ln w="12700">
            <a:solidFill>
              <a:schemeClr val="accent1"/>
            </a:solidFill>
            <a:prstDash val="solid"/>
          </a:ln>
        </p:spPr>
      </p:sp>
      <p:sp>
        <p:nvSpPr>
          <p:cNvPr id="20" name="Row label 4"/>
          <p:cNvSpPr txBox="1"/>
          <p:nvPr/>
        </p:nvSpPr>
        <p:spPr>
          <a:xfrm>
            <a:off x="621792" y="3346704"/>
            <a:ext cx="2468880" cy="566928"/>
          </a:xfrm>
          <a:prstGeom prst="rect">
            <a:avLst/>
          </a:prstGeom>
          <a:noFill/>
          <a:ln/>
        </p:spPr>
        <p:txBody>
          <a:bodyPr wrap="square" lIns="0" tIns="0" rIns="0" bIns="0" rtlCol="0" anchor="ctr"/>
          <a:lstStyle/>
          <a:p>
            <a:pPr indent="0" marL="0">
              <a:buNone/>
            </a:pPr>
            <a:r>
              <a:rPr lang="en-US" sz="1200" b="1" dirty="0">
                <a:solidFill>
                  <a:schemeClr val="tx1"/>
                </a:solidFill>
              </a:rPr>
              <a:t>+  Identify &amp; brief pilot group</a:t>
            </a:r>
            <a:endParaRPr lang="en-US" sz="1200" dirty="0"/>
          </a:p>
          <a:p>
            <a:pPr indent="0" marL="0">
              <a:buNone/>
            </a:pPr>
            <a:r>
              <a:rPr lang="en-US" sz="1000" dirty="0">
                <a:solidFill>
                  <a:schemeClr val="tx2"/>
                </a:solidFill>
              </a:rPr>
              <a:t>16 Nov – 18 Dec</a:t>
            </a:r>
            <a:endParaRPr lang="en-US" sz="1200" dirty="0"/>
          </a:p>
        </p:txBody>
      </p:sp>
      <p:sp>
        <p:nvSpPr>
          <p:cNvPr id="21" name="Bar + 4"/>
          <p:cNvSpPr/>
          <p:nvPr/>
        </p:nvSpPr>
        <p:spPr>
          <a:xfrm>
            <a:off x="4045357" y="3502152"/>
            <a:ext cx="683212" cy="256032"/>
          </a:xfrm>
          <a:prstGeom prst="roundRect">
            <a:avLst>
              <a:gd name="adj" fmla="val 21429"/>
            </a:avLst>
          </a:prstGeom>
          <a:solidFill>
            <a:schemeClr val="accent4"/>
          </a:solidFill>
          <a:ln w="12700">
            <a:solidFill>
              <a:schemeClr val="accent4"/>
            </a:solidFill>
            <a:prstDash val="solid"/>
          </a:ln>
        </p:spPr>
      </p:sp>
      <p:sp>
        <p:nvSpPr>
          <p:cNvPr id="22" name="Row label 5"/>
          <p:cNvSpPr txBox="1"/>
          <p:nvPr/>
        </p:nvSpPr>
        <p:spPr>
          <a:xfrm>
            <a:off x="621792" y="3913632"/>
            <a:ext cx="2468880" cy="566928"/>
          </a:xfrm>
          <a:prstGeom prst="rect">
            <a:avLst/>
          </a:prstGeom>
          <a:noFill/>
          <a:ln/>
        </p:spPr>
        <p:txBody>
          <a:bodyPr wrap="square" lIns="0" tIns="0" rIns="0" bIns="0" rtlCol="0" anchor="ctr"/>
          <a:lstStyle/>
          <a:p>
            <a:pPr indent="0" marL="0">
              <a:buNone/>
            </a:pPr>
            <a:r>
              <a:rPr lang="en-US" sz="1200" b="1" dirty="0">
                <a:solidFill>
                  <a:schemeClr val="tx1"/>
                </a:solidFill>
              </a:rPr>
              <a:t>4  Apply ruler, identify gaps</a:t>
            </a:r>
            <a:endParaRPr lang="en-US" sz="1200" dirty="0"/>
          </a:p>
          <a:p>
            <a:pPr indent="0" marL="0">
              <a:buNone/>
            </a:pPr>
            <a:r>
              <a:rPr lang="en-US" sz="1000" dirty="0">
                <a:solidFill>
                  <a:schemeClr val="tx2"/>
                </a:solidFill>
              </a:rPr>
              <a:t>18 Jan – 26 Feb</a:t>
            </a:r>
            <a:endParaRPr lang="en-US" sz="1200" dirty="0"/>
          </a:p>
        </p:txBody>
      </p:sp>
      <p:sp>
        <p:nvSpPr>
          <p:cNvPr id="23" name="Bar 4 5"/>
          <p:cNvSpPr/>
          <p:nvPr/>
        </p:nvSpPr>
        <p:spPr>
          <a:xfrm>
            <a:off x="5390431" y="4069080"/>
            <a:ext cx="832665" cy="256032"/>
          </a:xfrm>
          <a:prstGeom prst="roundRect">
            <a:avLst>
              <a:gd name="adj" fmla="val 21429"/>
            </a:avLst>
          </a:prstGeom>
          <a:solidFill>
            <a:schemeClr val="accent1"/>
          </a:solidFill>
          <a:ln w="12700">
            <a:solidFill>
              <a:schemeClr val="accent1"/>
            </a:solidFill>
            <a:prstDash val="solid"/>
          </a:ln>
        </p:spPr>
      </p:sp>
      <p:sp>
        <p:nvSpPr>
          <p:cNvPr id="24" name="Row label 6"/>
          <p:cNvSpPr txBox="1"/>
          <p:nvPr/>
        </p:nvSpPr>
        <p:spPr>
          <a:xfrm>
            <a:off x="621792" y="4480560"/>
            <a:ext cx="2468880" cy="566928"/>
          </a:xfrm>
          <a:prstGeom prst="rect">
            <a:avLst/>
          </a:prstGeom>
          <a:noFill/>
          <a:ln/>
        </p:spPr>
        <p:txBody>
          <a:bodyPr wrap="square" lIns="0" tIns="0" rIns="0" bIns="0" rtlCol="0" anchor="ctr"/>
          <a:lstStyle/>
          <a:p>
            <a:pPr indent="0" marL="0">
              <a:buNone/>
            </a:pPr>
            <a:r>
              <a:rPr lang="en-US" sz="1200" b="1" dirty="0">
                <a:solidFill>
                  <a:schemeClr val="tx1"/>
                </a:solidFill>
              </a:rPr>
              <a:t>5  Link gaps to IDPs</a:t>
            </a:r>
            <a:endParaRPr lang="en-US" sz="1200" dirty="0"/>
          </a:p>
          <a:p>
            <a:pPr indent="0" marL="0">
              <a:buNone/>
            </a:pPr>
            <a:r>
              <a:rPr lang="en-US" sz="1000" dirty="0">
                <a:solidFill>
                  <a:schemeClr val="tx2"/>
                </a:solidFill>
              </a:rPr>
              <a:t>1 – 26 Mar</a:t>
            </a:r>
            <a:endParaRPr lang="en-US" sz="1200" dirty="0"/>
          </a:p>
        </p:txBody>
      </p:sp>
      <p:sp>
        <p:nvSpPr>
          <p:cNvPr id="25" name="Bar 5 6"/>
          <p:cNvSpPr/>
          <p:nvPr/>
        </p:nvSpPr>
        <p:spPr>
          <a:xfrm>
            <a:off x="6287147" y="4636008"/>
            <a:ext cx="533759" cy="256032"/>
          </a:xfrm>
          <a:prstGeom prst="roundRect">
            <a:avLst>
              <a:gd name="adj" fmla="val 21429"/>
            </a:avLst>
          </a:prstGeom>
          <a:solidFill>
            <a:schemeClr val="accent1"/>
          </a:solidFill>
          <a:ln w="12700">
            <a:solidFill>
              <a:schemeClr val="accent1"/>
            </a:solidFill>
            <a:prstDash val="solid"/>
          </a:ln>
        </p:spPr>
      </p:sp>
      <p:sp>
        <p:nvSpPr>
          <p:cNvPr id="26" name="Row label 7"/>
          <p:cNvSpPr txBox="1"/>
          <p:nvPr/>
        </p:nvSpPr>
        <p:spPr>
          <a:xfrm>
            <a:off x="621792" y="5047488"/>
            <a:ext cx="2468880" cy="566928"/>
          </a:xfrm>
          <a:prstGeom prst="rect">
            <a:avLst/>
          </a:prstGeom>
          <a:noFill/>
          <a:ln/>
        </p:spPr>
        <p:txBody>
          <a:bodyPr wrap="square" lIns="0" tIns="0" rIns="0" bIns="0" rtlCol="0" anchor="ctr"/>
          <a:lstStyle/>
          <a:p>
            <a:pPr indent="0" marL="0">
              <a:buNone/>
            </a:pPr>
            <a:r>
              <a:rPr lang="en-US" sz="1200" b="1" dirty="0">
                <a:solidFill>
                  <a:schemeClr val="tx1"/>
                </a:solidFill>
              </a:rPr>
              <a:t>6  Review pilot outcomes</a:t>
            </a:r>
            <a:endParaRPr lang="en-US" sz="1200" dirty="0"/>
          </a:p>
          <a:p>
            <a:pPr indent="0" marL="0">
              <a:buNone/>
            </a:pPr>
            <a:r>
              <a:rPr lang="en-US" sz="1000" dirty="0">
                <a:solidFill>
                  <a:schemeClr val="tx2"/>
                </a:solidFill>
              </a:rPr>
              <a:t>Apr (SCo TBC)</a:t>
            </a:r>
            <a:endParaRPr lang="en-US" sz="1200" dirty="0"/>
          </a:p>
        </p:txBody>
      </p:sp>
      <p:sp>
        <p:nvSpPr>
          <p:cNvPr id="27" name="Bar 6 7"/>
          <p:cNvSpPr/>
          <p:nvPr/>
        </p:nvSpPr>
        <p:spPr>
          <a:xfrm>
            <a:off x="6884958" y="5202936"/>
            <a:ext cx="683212" cy="256032"/>
          </a:xfrm>
          <a:prstGeom prst="roundRect">
            <a:avLst>
              <a:gd name="adj" fmla="val 21429"/>
            </a:avLst>
          </a:prstGeom>
          <a:solidFill>
            <a:schemeClr val="accent1"/>
          </a:solidFill>
          <a:ln w="12700">
            <a:solidFill>
              <a:schemeClr val="accent1"/>
            </a:solidFill>
            <a:prstDash val="solid"/>
          </a:ln>
        </p:spPr>
      </p:sp>
      <p:sp>
        <p:nvSpPr>
          <p:cNvPr id="28" name="SCo 26 Oct line"/>
          <p:cNvSpPr/>
          <p:nvPr/>
        </p:nvSpPr>
        <p:spPr>
          <a:xfrm>
            <a:off x="3596999" y="1627632"/>
            <a:ext cx="0" cy="3986784"/>
          </a:xfrm>
          <a:prstGeom prst="line">
            <a:avLst/>
          </a:prstGeom>
          <a:noFill/>
          <a:ln w="12700">
            <a:solidFill>
              <a:schemeClr val="tx2"/>
            </a:solidFill>
            <a:prstDash val="dash"/>
          </a:ln>
        </p:spPr>
      </p:sp>
      <p:sp>
        <p:nvSpPr>
          <p:cNvPr id="29" name="SCo 26 Oct label"/>
          <p:cNvSpPr txBox="1"/>
          <p:nvPr/>
        </p:nvSpPr>
        <p:spPr>
          <a:xfrm>
            <a:off x="3414119" y="5687568"/>
            <a:ext cx="1188720" cy="274320"/>
          </a:xfrm>
          <a:prstGeom prst="rect">
            <a:avLst/>
          </a:prstGeom>
          <a:noFill/>
          <a:ln/>
        </p:spPr>
        <p:txBody>
          <a:bodyPr wrap="square" lIns="0" tIns="0" rIns="0" bIns="0" rtlCol="0" anchor="ctr"/>
          <a:lstStyle/>
          <a:p>
            <a:pPr indent="0" marL="0">
              <a:buNone/>
            </a:pPr>
            <a:r>
              <a:rPr lang="en-US" sz="1100" b="1" dirty="0">
                <a:solidFill>
                  <a:schemeClr val="tx1"/>
                </a:solidFill>
              </a:rPr>
              <a:t>SCo 26 Oct</a:t>
            </a:r>
            <a:endParaRPr lang="en-US" sz="1100" dirty="0"/>
          </a:p>
        </p:txBody>
      </p:sp>
      <p:sp>
        <p:nvSpPr>
          <p:cNvPr id="30" name="Legend swatch 1"/>
          <p:cNvSpPr/>
          <p:nvPr/>
        </p:nvSpPr>
        <p:spPr>
          <a:xfrm>
            <a:off x="621792" y="6126480"/>
            <a:ext cx="274320" cy="146304"/>
          </a:xfrm>
          <a:prstGeom prst="roundRect">
            <a:avLst>
              <a:gd name="adj" fmla="val 25000"/>
            </a:avLst>
          </a:prstGeom>
          <a:solidFill>
            <a:schemeClr val="accent3"/>
          </a:solidFill>
          <a:ln w="12700">
            <a:solidFill>
              <a:schemeClr val="accent3"/>
            </a:solidFill>
            <a:prstDash val="solid"/>
          </a:ln>
        </p:spPr>
      </p:sp>
      <p:sp>
        <p:nvSpPr>
          <p:cNvPr id="31" name="Legend label 1"/>
          <p:cNvSpPr txBox="1"/>
          <p:nvPr/>
        </p:nvSpPr>
        <p:spPr>
          <a:xfrm>
            <a:off x="969264" y="6071616"/>
            <a:ext cx="1097280" cy="256032"/>
          </a:xfrm>
          <a:prstGeom prst="rect">
            <a:avLst/>
          </a:prstGeom>
          <a:noFill/>
          <a:ln/>
        </p:spPr>
        <p:txBody>
          <a:bodyPr wrap="square" lIns="0" tIns="0" rIns="0" bIns="0" rtlCol="0" anchor="ctr"/>
          <a:lstStyle/>
          <a:p>
            <a:pPr indent="0" marL="0">
              <a:buNone/>
            </a:pPr>
            <a:r>
              <a:rPr lang="en-US" sz="1000" dirty="0">
                <a:solidFill>
                  <a:schemeClr val="tx2"/>
                </a:solidFill>
              </a:rPr>
              <a:t>Ongoing</a:t>
            </a:r>
            <a:endParaRPr lang="en-US" sz="1000" dirty="0"/>
          </a:p>
        </p:txBody>
      </p:sp>
      <p:sp>
        <p:nvSpPr>
          <p:cNvPr id="32" name="Legend swatch 2"/>
          <p:cNvSpPr/>
          <p:nvPr/>
        </p:nvSpPr>
        <p:spPr>
          <a:xfrm>
            <a:off x="2084832" y="6126480"/>
            <a:ext cx="274320" cy="146304"/>
          </a:xfrm>
          <a:prstGeom prst="roundRect">
            <a:avLst>
              <a:gd name="adj" fmla="val 25000"/>
            </a:avLst>
          </a:prstGeom>
          <a:solidFill>
            <a:schemeClr val="accent1"/>
          </a:solidFill>
          <a:ln w="12700">
            <a:solidFill>
              <a:schemeClr val="accent1"/>
            </a:solidFill>
            <a:prstDash val="solid"/>
          </a:ln>
        </p:spPr>
      </p:sp>
      <p:sp>
        <p:nvSpPr>
          <p:cNvPr id="33" name="Legend label 2"/>
          <p:cNvSpPr txBox="1"/>
          <p:nvPr/>
        </p:nvSpPr>
        <p:spPr>
          <a:xfrm>
            <a:off x="2432304" y="6071616"/>
            <a:ext cx="1097280" cy="256032"/>
          </a:xfrm>
          <a:prstGeom prst="rect">
            <a:avLst/>
          </a:prstGeom>
          <a:noFill/>
          <a:ln/>
        </p:spPr>
        <p:txBody>
          <a:bodyPr wrap="square" lIns="0" tIns="0" rIns="0" bIns="0" rtlCol="0" anchor="ctr"/>
          <a:lstStyle/>
          <a:p>
            <a:pPr indent="0" marL="0">
              <a:buNone/>
            </a:pPr>
            <a:r>
              <a:rPr lang="en-US" sz="1000" dirty="0">
                <a:solidFill>
                  <a:schemeClr val="tx2"/>
                </a:solidFill>
              </a:rPr>
              <a:t>Upcoming</a:t>
            </a:r>
            <a:endParaRPr lang="en-US" sz="1000" dirty="0"/>
          </a:p>
        </p:txBody>
      </p:sp>
      <p:sp>
        <p:nvSpPr>
          <p:cNvPr id="34" name="Legend swatch 3"/>
          <p:cNvSpPr/>
          <p:nvPr/>
        </p:nvSpPr>
        <p:spPr>
          <a:xfrm>
            <a:off x="3547872" y="6126480"/>
            <a:ext cx="274320" cy="146304"/>
          </a:xfrm>
          <a:prstGeom prst="roundRect">
            <a:avLst>
              <a:gd name="adj" fmla="val 25000"/>
            </a:avLst>
          </a:prstGeom>
          <a:solidFill>
            <a:schemeClr val="accent4"/>
          </a:solidFill>
          <a:ln w="12700">
            <a:solidFill>
              <a:schemeClr val="accent4"/>
            </a:solidFill>
            <a:prstDash val="solid"/>
          </a:ln>
        </p:spPr>
      </p:sp>
      <p:sp>
        <p:nvSpPr>
          <p:cNvPr id="35" name="Legend label 3"/>
          <p:cNvSpPr txBox="1"/>
          <p:nvPr/>
        </p:nvSpPr>
        <p:spPr>
          <a:xfrm>
            <a:off x="3895344" y="6071616"/>
            <a:ext cx="1097280" cy="256032"/>
          </a:xfrm>
          <a:prstGeom prst="rect">
            <a:avLst/>
          </a:prstGeom>
          <a:noFill/>
          <a:ln/>
        </p:spPr>
        <p:txBody>
          <a:bodyPr wrap="square" lIns="0" tIns="0" rIns="0" bIns="0" rtlCol="0" anchor="ctr"/>
          <a:lstStyle/>
          <a:p>
            <a:pPr indent="0" marL="0">
              <a:buNone/>
            </a:pPr>
            <a:r>
              <a:rPr lang="en-US" sz="1000" dirty="0">
                <a:solidFill>
                  <a:schemeClr val="tx2"/>
                </a:solidFill>
              </a:rPr>
              <a:t>Enabling activity</a:t>
            </a:r>
            <a:endParaRPr lang="en-US" sz="1000" dirty="0"/>
          </a:p>
        </p:txBody>
      </p:sp>
      <p:sp>
        <p:nvSpPr>
          <p:cNvPr id="36" name="Right panel"/>
          <p:cNvSpPr/>
          <p:nvPr/>
        </p:nvSpPr>
        <p:spPr>
          <a:xfrm>
            <a:off x="8001000" y="1234440"/>
            <a:ext cx="3639312" cy="5074920"/>
          </a:xfrm>
          <a:prstGeom prst="roundRect">
            <a:avLst>
              <a:gd name="adj" fmla="val 3015"/>
            </a:avLst>
          </a:prstGeom>
          <a:solidFill>
            <a:schemeClr val="accent6"/>
          </a:solidFill>
          <a:ln w="12700">
            <a:solidFill>
              <a:schemeClr val="accent6"/>
            </a:solidFill>
            <a:prstDash val="solid"/>
          </a:ln>
        </p:spPr>
      </p:sp>
      <p:sp>
        <p:nvSpPr>
          <p:cNvPr id="37" name="Asks and risks"/>
          <p:cNvSpPr txBox="1"/>
          <p:nvPr/>
        </p:nvSpPr>
        <p:spPr>
          <a:xfrm>
            <a:off x="8183880" y="1371600"/>
            <a:ext cx="3273552" cy="48006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Asks of the SCo</a:t>
            </a:r>
            <a:endParaRPr lang="en-US" sz="1600" dirty="0"/>
          </a:p>
          <a:p>
            <a:pPr marL="342900" indent="-342900">
              <a:spcAft>
                <a:spcPts val="400"/>
              </a:spcAft>
              <a:buSzPct val="100000"/>
              <a:buFont typeface="+mj-lt"/>
              <a:buAutoNum type="arabicPeriod" startAt="1"/>
            </a:pPr>
            <a:r>
              <a:rPr lang="en-US" sz="1200" dirty="0">
                <a:solidFill>
                  <a:schemeClr val="tx1"/>
                </a:solidFill>
              </a:rPr>
              <a:t>Endorse the revised timeline and reset the Stage 3 gates (pilot report, handover, showcase)</a:t>
            </a:r>
            <a:endParaRPr lang="en-US" sz="1600" dirty="0"/>
          </a:p>
          <a:p>
            <a:pPr marL="342900" indent="-342900">
              <a:spcAft>
                <a:spcPts val="400"/>
              </a:spcAft>
              <a:buSzPct val="100000"/>
              <a:buFont typeface="+mj-lt"/>
              <a:buAutoNum type="arabicPeriod" startAt="1"/>
            </a:pPr>
            <a:r>
              <a:rPr lang="en-US" sz="1200" dirty="0">
                <a:solidFill>
                  <a:schemeClr val="tx1"/>
                </a:solidFill>
              </a:rPr>
              <a:t>Sponsor support to expedite PETRONAS management approval of the ruler release</a:t>
            </a:r>
            <a:endParaRPr lang="en-US" sz="1600" dirty="0"/>
          </a:p>
          <a:p>
            <a:pPr marL="342900" indent="-342900">
              <a:spcAft>
                <a:spcPts val="400"/>
              </a:spcAft>
              <a:buSzPct val="100000"/>
              <a:buFont typeface="+mj-lt"/>
              <a:buAutoNum type="arabicPeriod" startAt="1"/>
            </a:pPr>
            <a:r>
              <a:rPr lang="en-US" sz="1200" dirty="0">
                <a:solidFill>
                  <a:schemeClr val="tx1"/>
                </a:solidFill>
              </a:rPr>
              <a:t>Confirm the pilot group and a named Electrical internal focal</a:t>
            </a:r>
            <a:endParaRPr lang="en-US" sz="1600" dirty="0"/>
          </a:p>
          <a:p>
            <a:pPr marL="342900" indent="-342900">
              <a:spcAft>
                <a:spcPts val="1200"/>
              </a:spcAft>
              <a:buSzPct val="100000"/>
              <a:buFont typeface="+mj-lt"/>
              <a:buAutoNum type="arabicPeriod" startAt="1"/>
            </a:pPr>
            <a:r>
              <a:rPr lang="en-US" sz="1200" dirty="0">
                <a:solidFill>
                  <a:schemeClr val="tx1"/>
                </a:solidFill>
              </a:rPr>
              <a:t>Agree a fallback if the full ruler is not released: proceed with the shared portion, or consider consultancy support</a:t>
            </a:r>
            <a:endParaRPr lang="en-US" sz="1600" dirty="0"/>
          </a:p>
          <a:p>
            <a:pPr indent="0" marL="0">
              <a:spcAft>
                <a:spcPts val="600"/>
              </a:spcAft>
              <a:buNone/>
            </a:pPr>
            <a:r>
              <a:rPr lang="en-US" sz="1600" b="1" dirty="0">
                <a:solidFill>
                  <a:schemeClr val="tx1"/>
                </a:solidFill>
              </a:rPr>
              <a:t>Key risks and mitigation</a:t>
            </a:r>
            <a:endParaRPr lang="en-US" sz="1600" dirty="0"/>
          </a:p>
          <a:p>
            <a:pPr marL="342900" indent="-342900">
              <a:spcAft>
                <a:spcPts val="400"/>
              </a:spcAft>
              <a:buSzPct val="100000"/>
              <a:buChar char="•"/>
            </a:pPr>
            <a:r>
              <a:rPr lang="en-US" sz="1200" dirty="0">
                <a:solidFill>
                  <a:schemeClr val="tx1"/>
                </a:solidFill>
              </a:rPr>
              <a:t>Approval delay slips Steps 2 to 6 one-for-one: start with the portion already shared</a:t>
            </a:r>
            <a:endParaRPr lang="en-US" sz="1600" dirty="0"/>
          </a:p>
          <a:p>
            <a:pPr marL="342900" indent="-342900">
              <a:spcAft>
                <a:spcPts val="400"/>
              </a:spcAft>
              <a:buSzPct val="100000"/>
              <a:buChar char="•"/>
            </a:pPr>
            <a:r>
              <a:rPr lang="en-US" sz="1200" dirty="0">
                <a:solidFill>
                  <a:schemeClr val="tx1"/>
                </a:solidFill>
              </a:rPr>
              <a:t>Year-end leave overlaps Step 3: book PETRONAS specialist sessions by Nov</a:t>
            </a:r>
            <a:endParaRPr lang="en-US" sz="1600" dirty="0"/>
          </a:p>
          <a:p>
            <a:pPr marL="342900" indent="-342900">
              <a:buSzPct val="100000"/>
              <a:buChar char="•"/>
            </a:pPr>
            <a:r>
              <a:rPr lang="en-US" sz="1200" dirty="0">
                <a:solidFill>
                  <a:schemeClr val="tx1"/>
                </a:solidFill>
              </a:rPr>
              <a:t>Access for staff outside the PETRONAS email domain: agree the route with ICT early</a:t>
            </a:r>
            <a:endParaRPr lang="en-US" sz="1600" dirty="0"/>
          </a:p>
        </p:txBody>
      </p:sp>
    </p:spTree>
  </p:cSld>
  <p:clrMapOvr>
    <a:masterClrMapping/>
  </p:clrMapOvr>
</p:sld>
</file>

<file path=ppt/theme/theme1.xml><?xml version="1.0" encoding="utf-8"?>
<a:theme xmlns:a="http://schemas.openxmlformats.org/drawingml/2006/main" name="Pod4 Pilot">
  <a:themeElements>
    <a:clrScheme name="Pod4 Pilot">
      <a:dk1>
        <a:srgbClr val="262626"/>
      </a:dk1>
      <a:lt1>
        <a:srgbClr val="FFFFFF"/>
      </a:lt1>
      <a:dk2>
        <a:srgbClr val="595959"/>
      </a:dk2>
      <a:lt2>
        <a:srgbClr val="F2F2F2"/>
      </a:lt2>
      <a:accent1>
        <a:srgbClr val="00B4D8"/>
      </a:accent1>
      <a:accent2>
        <a:srgbClr val="00A651"/>
      </a:accent2>
      <a:accent3>
        <a:srgbClr val="F5A623"/>
      </a:accent3>
      <a:accent4>
        <a:srgbClr val="7F7F7F"/>
      </a:accent4>
      <a:accent5>
        <a:srgbClr val="FFF200"/>
      </a:accent5>
      <a:accent6>
        <a:srgbClr val="E3F6FA"/>
      </a:accent6>
      <a:hlink>
        <a:srgbClr val="0070C0"/>
      </a:hlink>
      <a:folHlink>
        <a:srgbClr val="7F7F7F"/>
      </a:folHlink>
    </a:clrScheme>
    <a:fontScheme name="Pod4 Pi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Electrical Competency Ruler Pilot - Revised Timeline</dc:title>
  <dc:subject>PptxGenJS Presentation</dc:subject>
  <dc:creator>PptxGenJS</dc:creator>
  <cp:lastModifiedBy>PptxGenJS</cp:lastModifiedBy>
  <cp:revision>1</cp:revision>
  <dcterms:created xsi:type="dcterms:W3CDTF">2026-10-08T04:15:02Z</dcterms:created>
  <dcterms:modified xsi:type="dcterms:W3CDTF">2026-10-08T04:15:02Z</dcterms:modified>
</cp:coreProperties>
</file>